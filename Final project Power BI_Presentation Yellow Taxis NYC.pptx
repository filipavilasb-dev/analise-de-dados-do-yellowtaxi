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3" r:id="rId1"/>
  </p:sldMasterIdLst>
  <p:notesMasterIdLst>
    <p:notesMasterId r:id="rId16"/>
  </p:notesMasterIdLst>
  <p:sldIdLst>
    <p:sldId id="256" r:id="rId2"/>
    <p:sldId id="266" r:id="rId3"/>
    <p:sldId id="257" r:id="rId4"/>
    <p:sldId id="258" r:id="rId5"/>
    <p:sldId id="268" r:id="rId6"/>
    <p:sldId id="267" r:id="rId7"/>
    <p:sldId id="260" r:id="rId8"/>
    <p:sldId id="276" r:id="rId9"/>
    <p:sldId id="262" r:id="rId10"/>
    <p:sldId id="275" r:id="rId11"/>
    <p:sldId id="271" r:id="rId12"/>
    <p:sldId id="272" r:id="rId13"/>
    <p:sldId id="273" r:id="rId14"/>
    <p:sldId id="274" r:id="rId15"/>
  </p:sldIdLst>
  <p:sldSz cx="14630400" cy="8229600"/>
  <p:notesSz cx="8229600" cy="14630400"/>
  <p:embeddedFontLst>
    <p:embeddedFont>
      <p:font typeface="DM Sans" pitchFamily="2" charset="0"/>
      <p:regular r:id="rId17"/>
      <p:bold r:id="rId18"/>
      <p:italic r:id="rId19"/>
      <p:boldItalic r:id="rId20"/>
    </p:embeddedFont>
    <p:embeddedFont>
      <p:font typeface="DM Sans Semi Bold" panose="020B0604020202020204"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D7D995-4068-47CF-85CA-E8F63C639427}" v="2" dt="2025-10-16T17:36:53.2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a Ornelas" userId="025bd60bfdff1f55" providerId="LiveId" clId="{2084C61D-6BEE-4BC6-A814-26752A8244C5}"/>
    <pc:docChg chg="undo custSel modSld">
      <pc:chgData name="Carolina Ornelas" userId="025bd60bfdff1f55" providerId="LiveId" clId="{2084C61D-6BEE-4BC6-A814-26752A8244C5}" dt="2025-10-25T15:42:40.530" v="109" actId="1076"/>
      <pc:docMkLst>
        <pc:docMk/>
      </pc:docMkLst>
      <pc:sldChg chg="modSp mod">
        <pc:chgData name="Carolina Ornelas" userId="025bd60bfdff1f55" providerId="LiveId" clId="{2084C61D-6BEE-4BC6-A814-26752A8244C5}" dt="2025-10-25T15:42:40.530" v="109" actId="1076"/>
        <pc:sldMkLst>
          <pc:docMk/>
          <pc:sldMk cId="0" sldId="258"/>
        </pc:sldMkLst>
        <pc:spChg chg="mod">
          <ac:chgData name="Carolina Ornelas" userId="025bd60bfdff1f55" providerId="LiveId" clId="{2084C61D-6BEE-4BC6-A814-26752A8244C5}" dt="2025-10-25T15:42:40.530" v="109" actId="1076"/>
          <ac:spMkLst>
            <pc:docMk/>
            <pc:sldMk cId="0" sldId="258"/>
            <ac:spMk id="8" creationId="{B21551C6-A439-5833-CCF8-869A9648C480}"/>
          </ac:spMkLst>
        </pc:spChg>
      </pc:sldChg>
      <pc:sldChg chg="modSp mod">
        <pc:chgData name="Carolina Ornelas" userId="025bd60bfdff1f55" providerId="LiveId" clId="{2084C61D-6BEE-4BC6-A814-26752A8244C5}" dt="2025-10-25T15:39:58.426" v="92" actId="1076"/>
        <pc:sldMkLst>
          <pc:docMk/>
          <pc:sldMk cId="0" sldId="260"/>
        </pc:sldMkLst>
        <pc:spChg chg="mod">
          <ac:chgData name="Carolina Ornelas" userId="025bd60bfdff1f55" providerId="LiveId" clId="{2084C61D-6BEE-4BC6-A814-26752A8244C5}" dt="2025-10-25T15:39:45.645" v="89" actId="20577"/>
          <ac:spMkLst>
            <pc:docMk/>
            <pc:sldMk cId="0" sldId="260"/>
            <ac:spMk id="6" creationId="{659A4ABF-DFE2-5AC4-6AD9-520A9503AF82}"/>
          </ac:spMkLst>
        </pc:spChg>
        <pc:spChg chg="mod">
          <ac:chgData name="Carolina Ornelas" userId="025bd60bfdff1f55" providerId="LiveId" clId="{2084C61D-6BEE-4BC6-A814-26752A8244C5}" dt="2025-10-25T15:39:58.426" v="92" actId="1076"/>
          <ac:spMkLst>
            <pc:docMk/>
            <pc:sldMk cId="0" sldId="260"/>
            <ac:spMk id="7" creationId="{6EB26274-B854-40AF-CB30-43CEA3EAF354}"/>
          </ac:spMkLst>
        </pc:spChg>
      </pc:sldChg>
      <pc:sldChg chg="modSp mod">
        <pc:chgData name="Carolina Ornelas" userId="025bd60bfdff1f55" providerId="LiveId" clId="{2084C61D-6BEE-4BC6-A814-26752A8244C5}" dt="2025-10-25T15:42:31.175" v="108" actId="1076"/>
        <pc:sldMkLst>
          <pc:docMk/>
          <pc:sldMk cId="3251321243" sldId="267"/>
        </pc:sldMkLst>
        <pc:spChg chg="mod">
          <ac:chgData name="Carolina Ornelas" userId="025bd60bfdff1f55" providerId="LiveId" clId="{2084C61D-6BEE-4BC6-A814-26752A8244C5}" dt="2025-10-25T15:41:58.763" v="106" actId="1076"/>
          <ac:spMkLst>
            <pc:docMk/>
            <pc:sldMk cId="3251321243" sldId="267"/>
            <ac:spMk id="2" creationId="{FB871E63-C5E3-7509-2695-F0069402CE94}"/>
          </ac:spMkLst>
        </pc:spChg>
        <pc:spChg chg="mod">
          <ac:chgData name="Carolina Ornelas" userId="025bd60bfdff1f55" providerId="LiveId" clId="{2084C61D-6BEE-4BC6-A814-26752A8244C5}" dt="2025-10-25T15:42:09.211" v="107" actId="1076"/>
          <ac:spMkLst>
            <pc:docMk/>
            <pc:sldMk cId="3251321243" sldId="267"/>
            <ac:spMk id="4" creationId="{94FF7960-A714-FEA4-919C-6D578038575B}"/>
          </ac:spMkLst>
        </pc:spChg>
        <pc:spChg chg="mod">
          <ac:chgData name="Carolina Ornelas" userId="025bd60bfdff1f55" providerId="LiveId" clId="{2084C61D-6BEE-4BC6-A814-26752A8244C5}" dt="2025-10-25T15:42:31.175" v="108" actId="1076"/>
          <ac:spMkLst>
            <pc:docMk/>
            <pc:sldMk cId="3251321243" sldId="267"/>
            <ac:spMk id="8" creationId="{F3AF3B66-2415-0703-40A0-4443F8615A63}"/>
          </ac:spMkLst>
        </pc:spChg>
      </pc:sldChg>
      <pc:sldChg chg="modSp mod">
        <pc:chgData name="Carolina Ornelas" userId="025bd60bfdff1f55" providerId="LiveId" clId="{2084C61D-6BEE-4BC6-A814-26752A8244C5}" dt="2025-10-25T13:43:43.458" v="68" actId="20577"/>
        <pc:sldMkLst>
          <pc:docMk/>
          <pc:sldMk cId="1604400435" sldId="272"/>
        </pc:sldMkLst>
        <pc:spChg chg="mod">
          <ac:chgData name="Carolina Ornelas" userId="025bd60bfdff1f55" providerId="LiveId" clId="{2084C61D-6BEE-4BC6-A814-26752A8244C5}" dt="2025-10-25T13:43:35.337" v="62" actId="313"/>
          <ac:spMkLst>
            <pc:docMk/>
            <pc:sldMk cId="1604400435" sldId="272"/>
            <ac:spMk id="3" creationId="{AA650EAB-68D8-A01C-438C-163F7129C6EA}"/>
          </ac:spMkLst>
        </pc:spChg>
        <pc:spChg chg="mod">
          <ac:chgData name="Carolina Ornelas" userId="025bd60bfdff1f55" providerId="LiveId" clId="{2084C61D-6BEE-4BC6-A814-26752A8244C5}" dt="2025-10-25T13:43:43.458" v="68" actId="20577"/>
          <ac:spMkLst>
            <pc:docMk/>
            <pc:sldMk cId="1604400435" sldId="272"/>
            <ac:spMk id="8" creationId="{FE7943D3-41DC-35B9-B626-077868F3CBBA}"/>
          </ac:spMkLst>
        </pc:spChg>
      </pc:sldChg>
      <pc:sldChg chg="modSp mod">
        <pc:chgData name="Carolina Ornelas" userId="025bd60bfdff1f55" providerId="LiveId" clId="{2084C61D-6BEE-4BC6-A814-26752A8244C5}" dt="2025-10-25T15:41:34.608" v="105" actId="255"/>
        <pc:sldMkLst>
          <pc:docMk/>
          <pc:sldMk cId="577053708" sldId="274"/>
        </pc:sldMkLst>
        <pc:spChg chg="mod">
          <ac:chgData name="Carolina Ornelas" userId="025bd60bfdff1f55" providerId="LiveId" clId="{2084C61D-6BEE-4BC6-A814-26752A8244C5}" dt="2025-10-25T15:41:23.163" v="103" actId="404"/>
          <ac:spMkLst>
            <pc:docMk/>
            <pc:sldMk cId="577053708" sldId="274"/>
            <ac:spMk id="3" creationId="{54283637-1A22-330E-5289-DC4B66FBE615}"/>
          </ac:spMkLst>
        </pc:spChg>
        <pc:spChg chg="mod">
          <ac:chgData name="Carolina Ornelas" userId="025bd60bfdff1f55" providerId="LiveId" clId="{2084C61D-6BEE-4BC6-A814-26752A8244C5}" dt="2025-10-25T15:41:34.608" v="105" actId="255"/>
          <ac:spMkLst>
            <pc:docMk/>
            <pc:sldMk cId="577053708" sldId="274"/>
            <ac:spMk id="8" creationId="{11767E90-9BA0-2E27-3F1C-A7A597682BD8}"/>
          </ac:spMkLst>
        </pc:spChg>
      </pc:sldChg>
      <pc:sldChg chg="addSp modSp mod">
        <pc:chgData name="Carolina Ornelas" userId="025bd60bfdff1f55" providerId="LiveId" clId="{2084C61D-6BEE-4BC6-A814-26752A8244C5}" dt="2025-10-25T15:40:59.993" v="101" actId="123"/>
        <pc:sldMkLst>
          <pc:docMk/>
          <pc:sldMk cId="2638076372" sldId="275"/>
        </pc:sldMkLst>
        <pc:spChg chg="mod">
          <ac:chgData name="Carolina Ornelas" userId="025bd60bfdff1f55" providerId="LiveId" clId="{2084C61D-6BEE-4BC6-A814-26752A8244C5}" dt="2025-10-25T15:40:55.635" v="100" actId="123"/>
          <ac:spMkLst>
            <pc:docMk/>
            <pc:sldMk cId="2638076372" sldId="275"/>
            <ac:spMk id="3" creationId="{0F1ACC33-90BA-BE67-26A1-782D85095588}"/>
          </ac:spMkLst>
        </pc:spChg>
        <pc:spChg chg="mod">
          <ac:chgData name="Carolina Ornelas" userId="025bd60bfdff1f55" providerId="LiveId" clId="{2084C61D-6BEE-4BC6-A814-26752A8244C5}" dt="2025-10-25T15:40:59.993" v="101" actId="123"/>
          <ac:spMkLst>
            <pc:docMk/>
            <pc:sldMk cId="2638076372" sldId="275"/>
            <ac:spMk id="4" creationId="{5B81B0B3-3054-84C3-C210-FB617F49889A}"/>
          </ac:spMkLst>
        </pc:spChg>
        <pc:spChg chg="add mod">
          <ac:chgData name="Carolina Ornelas" userId="025bd60bfdff1f55" providerId="LiveId" clId="{2084C61D-6BEE-4BC6-A814-26752A8244C5}" dt="2025-10-16T17:36:53.240" v="1"/>
          <ac:spMkLst>
            <pc:docMk/>
            <pc:sldMk cId="2638076372" sldId="275"/>
            <ac:spMk id="5" creationId="{FFEBBFF6-6E7C-8652-BCAE-FAC7A6D5C43D}"/>
          </ac:spMkLst>
        </pc:spChg>
      </pc:sldChg>
      <pc:sldChg chg="addSp modSp mod">
        <pc:chgData name="Carolina Ornelas" userId="025bd60bfdff1f55" providerId="LiveId" clId="{2084C61D-6BEE-4BC6-A814-26752A8244C5}" dt="2025-10-25T15:40:35.446" v="99" actId="20577"/>
        <pc:sldMkLst>
          <pc:docMk/>
          <pc:sldMk cId="576984412" sldId="276"/>
        </pc:sldMkLst>
        <pc:spChg chg="add mod">
          <ac:chgData name="Carolina Ornelas" userId="025bd60bfdff1f55" providerId="LiveId" clId="{2084C61D-6BEE-4BC6-A814-26752A8244C5}" dt="2025-10-16T17:36:24.193" v="0"/>
          <ac:spMkLst>
            <pc:docMk/>
            <pc:sldMk cId="576984412" sldId="276"/>
            <ac:spMk id="3" creationId="{85A6ED5C-B1BE-1ED3-40F4-2875D32998DC}"/>
          </ac:spMkLst>
        </pc:spChg>
        <pc:spChg chg="mod">
          <ac:chgData name="Carolina Ornelas" userId="025bd60bfdff1f55" providerId="LiveId" clId="{2084C61D-6BEE-4BC6-A814-26752A8244C5}" dt="2025-10-25T15:40:11.345" v="95" actId="5793"/>
          <ac:spMkLst>
            <pc:docMk/>
            <pc:sldMk cId="576984412" sldId="276"/>
            <ac:spMk id="5" creationId="{65B997BE-6AFD-A8EF-4DE5-8F1112337D40}"/>
          </ac:spMkLst>
        </pc:spChg>
        <pc:spChg chg="mod">
          <ac:chgData name="Carolina Ornelas" userId="025bd60bfdff1f55" providerId="LiveId" clId="{2084C61D-6BEE-4BC6-A814-26752A8244C5}" dt="2025-10-25T15:40:35.446" v="99" actId="20577"/>
          <ac:spMkLst>
            <pc:docMk/>
            <pc:sldMk cId="576984412" sldId="276"/>
            <ac:spMk id="6" creationId="{A78C9766-6211-DBEC-8260-77B51BB31E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006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Carolina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Carolina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Filipa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Filipa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6DDD-1F82-307B-D8C7-ADAD83995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51ADC-F1A6-B3C5-1D37-28F37B4CC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3DC44-EA35-9D74-F76C-789767175623}"/>
              </a:ext>
            </a:extLst>
          </p:cNvPr>
          <p:cNvSpPr>
            <a:spLocks noGrp="1"/>
          </p:cNvSpPr>
          <p:nvPr>
            <p:ph type="body" idx="1"/>
          </p:nvPr>
        </p:nvSpPr>
        <p:spPr/>
        <p:txBody>
          <a:bodyPr/>
          <a:lstStyle/>
          <a:p>
            <a:r>
              <a:rPr lang="en-US"/>
              <a:t>Carolina</a:t>
            </a:r>
          </a:p>
        </p:txBody>
      </p:sp>
      <p:sp>
        <p:nvSpPr>
          <p:cNvPr id="4" name="Slide Number Placeholder 3">
            <a:extLst>
              <a:ext uri="{FF2B5EF4-FFF2-40B4-BE49-F238E27FC236}">
                <a16:creationId xmlns:a16="http://schemas.microsoft.com/office/drawing/2014/main" id="{64E6D2FD-A109-C8CD-2636-BB8EE4DB5F0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9451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C847A-D697-B0D7-5608-4D2222C96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89764-FFEF-93D8-3C63-4F7E0F9AD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B97D7-C989-93F8-533C-FD69A1C8B7EF}"/>
              </a:ext>
            </a:extLst>
          </p:cNvPr>
          <p:cNvSpPr>
            <a:spLocks noGrp="1"/>
          </p:cNvSpPr>
          <p:nvPr>
            <p:ph type="body" idx="1"/>
          </p:nvPr>
        </p:nvSpPr>
        <p:spPr/>
        <p:txBody>
          <a:bodyPr/>
          <a:lstStyle/>
          <a:p>
            <a:r>
              <a:rPr lang="en-US"/>
              <a:t>Carolina</a:t>
            </a:r>
          </a:p>
        </p:txBody>
      </p:sp>
      <p:sp>
        <p:nvSpPr>
          <p:cNvPr id="4" name="Slide Number Placeholder 3">
            <a:extLst>
              <a:ext uri="{FF2B5EF4-FFF2-40B4-BE49-F238E27FC236}">
                <a16:creationId xmlns:a16="http://schemas.microsoft.com/office/drawing/2014/main" id="{F4D2CC1C-A6D3-3DED-F183-8CAA539C5D1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44819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E54A4-0CC4-0F7A-7C66-521280E80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01E33-0374-D50D-147A-819A33739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2BC1B5-E100-0F31-A1E8-A9909A818728}"/>
              </a:ext>
            </a:extLst>
          </p:cNvPr>
          <p:cNvSpPr>
            <a:spLocks noGrp="1"/>
          </p:cNvSpPr>
          <p:nvPr>
            <p:ph type="body" idx="1"/>
          </p:nvPr>
        </p:nvSpPr>
        <p:spPr/>
        <p:txBody>
          <a:bodyPr/>
          <a:lstStyle/>
          <a:p>
            <a:r>
              <a:rPr lang="en-US"/>
              <a:t>Carolina</a:t>
            </a:r>
          </a:p>
        </p:txBody>
      </p:sp>
      <p:sp>
        <p:nvSpPr>
          <p:cNvPr id="4" name="Slide Number Placeholder 3">
            <a:extLst>
              <a:ext uri="{FF2B5EF4-FFF2-40B4-BE49-F238E27FC236}">
                <a16:creationId xmlns:a16="http://schemas.microsoft.com/office/drawing/2014/main" id="{584BC0F3-1128-06DE-E9E8-F16D6041744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17233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9A149-F64D-4677-387D-EF407FDE9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B04EC-2F13-BDE2-BBB5-AE3AE00A5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B66F1-03EE-67AC-B909-537F373BCCC8}"/>
              </a:ext>
            </a:extLst>
          </p:cNvPr>
          <p:cNvSpPr>
            <a:spLocks noGrp="1"/>
          </p:cNvSpPr>
          <p:nvPr>
            <p:ph type="body" idx="1"/>
          </p:nvPr>
        </p:nvSpPr>
        <p:spPr/>
        <p:txBody>
          <a:bodyPr/>
          <a:lstStyle/>
          <a:p>
            <a:r>
              <a:rPr lang="en-US"/>
              <a:t>Carolina</a:t>
            </a:r>
          </a:p>
        </p:txBody>
      </p:sp>
      <p:sp>
        <p:nvSpPr>
          <p:cNvPr id="4" name="Slide Number Placeholder 3">
            <a:extLst>
              <a:ext uri="{FF2B5EF4-FFF2-40B4-BE49-F238E27FC236}">
                <a16:creationId xmlns:a16="http://schemas.microsoft.com/office/drawing/2014/main" id="{F1FDAD9B-5472-1793-0C3A-FD755988898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3873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320061" y="5346744"/>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6602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8FC5F6-F338-4AE4-BB23-26385BCFC423}"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3E31D-E2AB-40D1-8B51-AFA5AFEF393A}" type="slidenum">
              <a:rPr lang="en-US" smtClean="0"/>
              <a:t>‹nº›</a:t>
            </a:fld>
            <a:endParaRPr lang="en-US"/>
          </a:p>
        </p:txBody>
      </p:sp>
    </p:spTree>
    <p:extLst>
      <p:ext uri="{BB962C8B-B14F-4D97-AF65-F5344CB8AC3E}">
        <p14:creationId xmlns:p14="http://schemas.microsoft.com/office/powerpoint/2010/main" val="11453956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617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p>
        </p:txBody>
      </p:sp>
      <p:sp>
        <p:nvSpPr>
          <p:cNvPr id="3" name="Content Placeholder 2"/>
          <p:cNvSpPr>
            <a:spLocks noGrp="1"/>
          </p:cNvSpPr>
          <p:nvPr>
            <p:ph sz="half" idx="1"/>
          </p:nvPr>
        </p:nvSpPr>
        <p:spPr>
          <a:xfrm>
            <a:off x="1316735" y="2214881"/>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9AB4D41-86C1-4908-B66A-0B50CEB3BF29}"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25452548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426E2C-56C1-4E0D-A793-0088A7FDD37E}"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37419048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6322374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10/25/2025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a:p>
        </p:txBody>
      </p:sp>
    </p:spTree>
    <p:extLst>
      <p:ext uri="{BB962C8B-B14F-4D97-AF65-F5344CB8AC3E}">
        <p14:creationId xmlns:p14="http://schemas.microsoft.com/office/powerpoint/2010/main" val="417590126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848085" y="0"/>
            <a:ext cx="7681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32ABBEA6-7C60-4B02-AE87-00D78D8422AF}" type="datetimeFigureOut">
              <a:rPr lang="en-US" smtClean="0"/>
              <a:t>10/25/2025</a:t>
            </a:fld>
            <a:endParaRPr lang="en-US"/>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‹nº›</a:t>
            </a:fld>
            <a:endParaRPr lang="en-US"/>
          </a:p>
        </p:txBody>
      </p:sp>
    </p:spTree>
    <p:extLst>
      <p:ext uri="{BB962C8B-B14F-4D97-AF65-F5344CB8AC3E}">
        <p14:creationId xmlns:p14="http://schemas.microsoft.com/office/powerpoint/2010/main" val="30398064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9" y="5898091"/>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6089904"/>
            <a:ext cx="12135917" cy="987552"/>
          </a:xfrm>
        </p:spPr>
        <p:txBody>
          <a:bodyPr lIns="91440" tIns="0" rIns="91440" bIns="0" anchor="b">
            <a:noAutofit/>
          </a:bodyPr>
          <a:lstStyle>
            <a:lvl1pPr>
              <a:defRPr sz="432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9" y="0"/>
            <a:ext cx="14630382" cy="5898091"/>
          </a:xfrm>
          <a:blipFill>
            <a:blip r:embed="rId2"/>
            <a:stretch>
              <a:fillRect/>
            </a:stretch>
          </a:blipFill>
        </p:spPr>
        <p:txBody>
          <a:bodyPr lIns="457200" tIns="457200" anchor="t"/>
          <a:lstStyle>
            <a:lvl1pPr marL="0" indent="0">
              <a:buNone/>
              <a:defRPr sz="3840">
                <a:solidFill>
                  <a:schemeClr val="bg1"/>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p:cNvSpPr>
            <a:spLocks noGrp="1"/>
          </p:cNvSpPr>
          <p:nvPr>
            <p:ph type="body" sz="half" idx="2"/>
          </p:nvPr>
        </p:nvSpPr>
        <p:spPr>
          <a:xfrm>
            <a:off x="1316736" y="7088428"/>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21476285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2D6473-DF6D-4702-B328-E0DD40540A4E}"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6090415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469880" y="497734"/>
            <a:ext cx="3154680" cy="690890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5840" y="497734"/>
            <a:ext cx="9281160" cy="6908906"/>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F7E3A-B166-407D-9866-32884E7D5B3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6625421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4838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5430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835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925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034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1143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378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PT"/>
          </a:p>
        </p:txBody>
      </p:sp>
      <p:sp>
        <p:nvSpPr>
          <p:cNvPr id="9" name="Rectangle 8"/>
          <p:cNvSpPr/>
          <p:nvPr/>
        </p:nvSpPr>
        <p:spPr>
          <a:xfrm>
            <a:off x="1" y="7601179"/>
            <a:ext cx="14630401" cy="79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PT"/>
          </a:p>
        </p:txBody>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98624D31-43A5-475A-80CF-332C9F6DCF35}" type="datetimeFigureOut">
              <a:rPr lang="en-US" smtClean="0"/>
              <a:t>10/25/2025</a:t>
            </a:fld>
            <a:endParaRPr lang="en-US"/>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4FAB73BC-B049-4115-A692-8D63A059BFB8}" type="slidenum">
              <a:rPr lang="en-US" smtClean="0"/>
              <a:pPr/>
              <a:t>‹nº›</a:t>
            </a:fld>
            <a:endParaRPr lang="en-US"/>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15489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Lst>
  <p:hf sldNum="0"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7620000"/>
          </a:xfrm>
          <a:prstGeom prst="rect">
            <a:avLst/>
          </a:prstGeom>
        </p:spPr>
      </p:pic>
      <p:sp>
        <p:nvSpPr>
          <p:cNvPr id="3" name="Text 0"/>
          <p:cNvSpPr/>
          <p:nvPr/>
        </p:nvSpPr>
        <p:spPr>
          <a:xfrm>
            <a:off x="793790" y="3227427"/>
            <a:ext cx="6909197" cy="708779"/>
          </a:xfrm>
          <a:prstGeom prst="rect">
            <a:avLst/>
          </a:prstGeom>
          <a:noFill/>
          <a:ln/>
        </p:spPr>
        <p:txBody>
          <a:bodyPr wrap="none" lIns="0" tIns="0" rIns="0" bIns="0" rtlCol="0" anchor="t"/>
          <a:lstStyle/>
          <a:p>
            <a:pPr marL="0" indent="0" algn="ctr">
              <a:lnSpc>
                <a:spcPts val="5550"/>
              </a:lnSpc>
              <a:buNone/>
            </a:pPr>
            <a:r>
              <a:rPr lang="pt-PT" sz="4800" noProof="0">
                <a:solidFill>
                  <a:schemeClr val="accent1"/>
                </a:solidFill>
                <a:latin typeface="DM Sans Semi Bold"/>
                <a:ea typeface="DM Sans Semi Bold" pitchFamily="34" charset="-122"/>
                <a:cs typeface="DM Sans Semi Bold" pitchFamily="34" charset="-120"/>
              </a:rPr>
              <a:t>NYC </a:t>
            </a:r>
            <a:r>
              <a:rPr lang="pt-PT" sz="4800" noProof="0" err="1">
                <a:solidFill>
                  <a:schemeClr val="accent1"/>
                </a:solidFill>
                <a:latin typeface="DM Sans Semi Bold"/>
                <a:ea typeface="DM Sans Semi Bold" pitchFamily="34" charset="-122"/>
                <a:cs typeface="DM Sans Semi Bold" pitchFamily="34" charset="-120"/>
              </a:rPr>
              <a:t>Yellow</a:t>
            </a:r>
            <a:r>
              <a:rPr lang="pt-PT" sz="4800" noProof="0">
                <a:solidFill>
                  <a:schemeClr val="accent1"/>
                </a:solidFill>
                <a:latin typeface="DM Sans Semi Bold"/>
                <a:ea typeface="DM Sans Semi Bold" pitchFamily="34" charset="-122"/>
                <a:cs typeface="DM Sans Semi Bold" pitchFamily="34" charset="-120"/>
              </a:rPr>
              <a:t> </a:t>
            </a:r>
            <a:r>
              <a:rPr lang="pt-PT" sz="4800">
                <a:solidFill>
                  <a:schemeClr val="accent1"/>
                </a:solidFill>
                <a:latin typeface="DM Sans Semi Bold"/>
                <a:ea typeface="DM Sans Semi Bold" pitchFamily="34" charset="-122"/>
                <a:cs typeface="DM Sans Semi Bold" pitchFamily="34" charset="-120"/>
              </a:rPr>
              <a:t>Taxis</a:t>
            </a:r>
            <a:endParaRPr lang="pt-PT" sz="4800" noProof="0">
              <a:solidFill>
                <a:schemeClr val="accent1"/>
              </a:solidFill>
              <a:latin typeface="DM Sans Semi Bold"/>
            </a:endParaRPr>
          </a:p>
        </p:txBody>
      </p:sp>
      <p:sp>
        <p:nvSpPr>
          <p:cNvPr id="4" name="Text 1"/>
          <p:cNvSpPr/>
          <p:nvPr/>
        </p:nvSpPr>
        <p:spPr>
          <a:xfrm>
            <a:off x="1619290" y="4298775"/>
            <a:ext cx="5283121" cy="700405"/>
          </a:xfrm>
          <a:prstGeom prst="rect">
            <a:avLst/>
          </a:prstGeom>
          <a:noFill/>
          <a:ln/>
        </p:spPr>
        <p:txBody>
          <a:bodyPr wrap="square" lIns="0" tIns="0" rIns="0" bIns="0" rtlCol="0" anchor="t"/>
          <a:lstStyle/>
          <a:p>
            <a:pPr algn="ctr">
              <a:lnSpc>
                <a:spcPts val="2850"/>
              </a:lnSpc>
            </a:pPr>
            <a:r>
              <a:rPr lang="pt-PT" b="1">
                <a:solidFill>
                  <a:srgbClr val="4A4A4A"/>
                </a:solidFill>
                <a:latin typeface="DM Sans"/>
              </a:rPr>
              <a:t>Projeto de Análise de Dados</a:t>
            </a:r>
          </a:p>
        </p:txBody>
      </p:sp>
      <p:sp>
        <p:nvSpPr>
          <p:cNvPr id="5" name="Text 1">
            <a:extLst>
              <a:ext uri="{FF2B5EF4-FFF2-40B4-BE49-F238E27FC236}">
                <a16:creationId xmlns:a16="http://schemas.microsoft.com/office/drawing/2014/main" id="{1B8A9757-F997-6878-1E5A-EC1826EAE77F}"/>
              </a:ext>
            </a:extLst>
          </p:cNvPr>
          <p:cNvSpPr/>
          <p:nvPr/>
        </p:nvSpPr>
        <p:spPr>
          <a:xfrm>
            <a:off x="274584" y="6088727"/>
            <a:ext cx="2425621" cy="1398157"/>
          </a:xfrm>
          <a:prstGeom prst="rect">
            <a:avLst/>
          </a:prstGeom>
          <a:noFill/>
          <a:ln/>
        </p:spPr>
        <p:txBody>
          <a:bodyPr wrap="square" lIns="0" tIns="0" rIns="0" bIns="0" rtlCol="0" anchor="t"/>
          <a:lstStyle/>
          <a:p>
            <a:pPr>
              <a:lnSpc>
                <a:spcPts val="2850"/>
              </a:lnSpc>
            </a:pPr>
            <a:r>
              <a:rPr lang="pt-PT" b="1">
                <a:solidFill>
                  <a:srgbClr val="4A4A4A"/>
                </a:solidFill>
                <a:latin typeface="DM Sans"/>
              </a:rPr>
              <a:t>Realizado por:</a:t>
            </a:r>
            <a:endParaRPr lang="pt-PT" b="1">
              <a:solidFill>
                <a:srgbClr val="000000"/>
              </a:solidFill>
              <a:latin typeface="Calibri" panose="020F0502020204030204"/>
              <a:ea typeface="Calibri" panose="020F0502020204030204"/>
              <a:cs typeface="Calibri" panose="020F0502020204030204"/>
            </a:endParaRPr>
          </a:p>
          <a:p>
            <a:r>
              <a:rPr lang="pt-PT" sz="1600">
                <a:solidFill>
                  <a:srgbClr val="4A4A4A"/>
                </a:solidFill>
                <a:latin typeface="DM Sans"/>
              </a:rPr>
              <a:t>Carolina Ornelas</a:t>
            </a:r>
            <a:endParaRPr lang="pt-PT" b="1">
              <a:solidFill>
                <a:srgbClr val="000000"/>
              </a:solidFill>
              <a:latin typeface="Calibri" panose="020F0502020204030204"/>
              <a:ea typeface="Calibri" panose="020F0502020204030204"/>
              <a:cs typeface="Calibri" panose="020F0502020204030204"/>
            </a:endParaRPr>
          </a:p>
          <a:p>
            <a:r>
              <a:rPr lang="pt-PT" sz="1600">
                <a:solidFill>
                  <a:srgbClr val="4A4A4A"/>
                </a:solidFill>
                <a:latin typeface="DM Sans"/>
                <a:ea typeface="Calibri" panose="020F0502020204030204"/>
                <a:cs typeface="Calibri" panose="020F0502020204030204"/>
              </a:rPr>
              <a:t>Filipa Vilas Boas</a:t>
            </a:r>
          </a:p>
          <a:p>
            <a:r>
              <a:rPr lang="pt-PT" sz="1600">
                <a:solidFill>
                  <a:srgbClr val="4A4A4A"/>
                </a:solidFill>
                <a:latin typeface="DM Sans"/>
                <a:ea typeface="Calibri" panose="020F0502020204030204"/>
                <a:cs typeface="Calibri" panose="020F0502020204030204"/>
              </a:rPr>
              <a:t>Hugo Hilário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AF7DA89-EC96-3269-C63E-58CC81C20A2F}"/>
              </a:ext>
            </a:extLst>
          </p:cNvPr>
          <p:cNvSpPr>
            <a:spLocks noGrp="1"/>
          </p:cNvSpPr>
          <p:nvPr>
            <p:ph type="title"/>
          </p:nvPr>
        </p:nvSpPr>
        <p:spPr/>
        <p:txBody>
          <a:bodyPr>
            <a:normAutofit/>
          </a:bodyPr>
          <a:lstStyle/>
          <a:p>
            <a:r>
              <a:rPr lang="pt-PT" sz="5750">
                <a:latin typeface="DM Sans Semi Bold"/>
                <a:ea typeface="Calibri Light"/>
                <a:cs typeface="Calibri Light"/>
              </a:rPr>
              <a:t>Introdução</a:t>
            </a:r>
          </a:p>
        </p:txBody>
      </p:sp>
      <p:sp>
        <p:nvSpPr>
          <p:cNvPr id="5" name="Marcador de Posição de Conteúdo 4">
            <a:extLst>
              <a:ext uri="{FF2B5EF4-FFF2-40B4-BE49-F238E27FC236}">
                <a16:creationId xmlns:a16="http://schemas.microsoft.com/office/drawing/2014/main" id="{12ED47B8-729A-FFEF-C9F6-482D4833B598}"/>
              </a:ext>
            </a:extLst>
          </p:cNvPr>
          <p:cNvSpPr>
            <a:spLocks noGrp="1"/>
          </p:cNvSpPr>
          <p:nvPr>
            <p:ph idx="1"/>
          </p:nvPr>
        </p:nvSpPr>
        <p:spPr>
          <a:xfrm>
            <a:off x="1418336" y="2214881"/>
            <a:ext cx="6166533" cy="4828032"/>
          </a:xfrm>
        </p:spPr>
        <p:txBody>
          <a:bodyPr vert="horz" lIns="0" tIns="45720" rIns="0" bIns="45720" rtlCol="0" anchor="t">
            <a:normAutofit/>
          </a:bodyPr>
          <a:lstStyle/>
          <a:p>
            <a:pPr marL="0" indent="0">
              <a:lnSpc>
                <a:spcPct val="150000"/>
              </a:lnSpc>
              <a:buNone/>
            </a:pPr>
            <a:r>
              <a:rPr lang="pt-PT" sz="2000">
                <a:solidFill>
                  <a:srgbClr val="4A4A4A"/>
                </a:solidFill>
                <a:latin typeface="DM Sans"/>
              </a:rPr>
              <a:t>O presente projeto visa desenvolver um conjunto de métricas e indicadores operacionais que permitam analisar o desempenho do setor de táxis da cidade de Nova Iorque sob duas perspetivas:</a:t>
            </a:r>
            <a:endParaRPr lang="pt-PT" sz="2000">
              <a:solidFill>
                <a:srgbClr val="4A4A4A"/>
              </a:solidFill>
              <a:latin typeface="DM Sans"/>
              <a:ea typeface="Calibri" panose="020F0502020204030204"/>
              <a:cs typeface="Calibri" panose="020F0502020204030204"/>
            </a:endParaRPr>
          </a:p>
          <a:p>
            <a:pPr marL="109220" indent="-109220">
              <a:lnSpc>
                <a:spcPct val="150000"/>
              </a:lnSpc>
              <a:buFont typeface="Arial" panose="020F0502020204030204" pitchFamily="34" charset="0"/>
              <a:buChar char="•"/>
            </a:pPr>
            <a:r>
              <a:rPr lang="pt-PT" sz="2000">
                <a:solidFill>
                  <a:srgbClr val="4A4A4A"/>
                </a:solidFill>
                <a:latin typeface="DM Sans"/>
                <a:ea typeface="Calibri" panose="020F0502020204030204"/>
                <a:cs typeface="Calibri" panose="020F0502020204030204"/>
              </a:rPr>
              <a:t> Plataformas de Sistemas de Pagamento </a:t>
            </a:r>
          </a:p>
          <a:p>
            <a:pPr marL="636905" lvl="1" indent="-285750">
              <a:lnSpc>
                <a:spcPct val="150000"/>
              </a:lnSpc>
              <a:buFont typeface="Wingdings" pitchFamily="34" charset="0"/>
              <a:buChar char="ü"/>
            </a:pPr>
            <a:r>
              <a:rPr lang="pt-PT" sz="1750">
                <a:solidFill>
                  <a:srgbClr val="4A4A4A"/>
                </a:solidFill>
                <a:latin typeface="DM Sans"/>
                <a:ea typeface="Calibri" panose="020F0502020204030204"/>
                <a:cs typeface="Calibri" panose="020F0502020204030204"/>
              </a:rPr>
              <a:t> Creative Mobile Technologies, LLC</a:t>
            </a:r>
          </a:p>
          <a:p>
            <a:pPr marL="636905" lvl="1" indent="-285750">
              <a:lnSpc>
                <a:spcPct val="150000"/>
              </a:lnSpc>
              <a:buFont typeface="Wingdings" pitchFamily="34" charset="0"/>
              <a:buChar char="ü"/>
            </a:pPr>
            <a:r>
              <a:rPr lang="pt-PT" sz="1750">
                <a:solidFill>
                  <a:srgbClr val="4A4A4A"/>
                </a:solidFill>
                <a:latin typeface="DM Sans"/>
                <a:ea typeface="Calibri" panose="020F0502020204030204"/>
                <a:cs typeface="Calibri" panose="020F0502020204030204"/>
              </a:rPr>
              <a:t> </a:t>
            </a:r>
            <a:r>
              <a:rPr lang="pt-PT" sz="1750" err="1">
                <a:solidFill>
                  <a:srgbClr val="4A4A4A"/>
                </a:solidFill>
                <a:latin typeface="DM Sans"/>
                <a:ea typeface="Calibri" panose="020F0502020204030204"/>
                <a:cs typeface="Calibri" panose="020F0502020204030204"/>
              </a:rPr>
              <a:t>VeriFone</a:t>
            </a:r>
            <a:r>
              <a:rPr lang="pt-PT" sz="1750">
                <a:solidFill>
                  <a:srgbClr val="4A4A4A"/>
                </a:solidFill>
                <a:latin typeface="DM Sans"/>
                <a:ea typeface="Calibri" panose="020F0502020204030204"/>
                <a:cs typeface="Calibri" panose="020F0502020204030204"/>
              </a:rPr>
              <a:t> Inc.</a:t>
            </a:r>
            <a:endParaRPr lang="pt-PT"/>
          </a:p>
          <a:p>
            <a:pPr marL="109220" indent="-109220">
              <a:lnSpc>
                <a:spcPct val="150000"/>
              </a:lnSpc>
              <a:buFont typeface="Arial" panose="020F0502020204030204" pitchFamily="34" charset="0"/>
              <a:buChar char="•"/>
            </a:pPr>
            <a:r>
              <a:rPr lang="pt-PT" sz="2000">
                <a:solidFill>
                  <a:srgbClr val="4A4A4A"/>
                </a:solidFill>
                <a:latin typeface="DM Sans"/>
                <a:ea typeface="Calibri" panose="020F0502020204030204"/>
                <a:cs typeface="Calibri" panose="020F0502020204030204"/>
              </a:rPr>
              <a:t> Taxistas</a:t>
            </a:r>
          </a:p>
        </p:txBody>
      </p:sp>
      <p:pic>
        <p:nvPicPr>
          <p:cNvPr id="7" name="Imagem 6" descr="Uma imagem com vestuário, cadeira, mobília, interior&#10;&#10;Os conteúdos gerados por IA poderão estar incorretos.">
            <a:extLst>
              <a:ext uri="{FF2B5EF4-FFF2-40B4-BE49-F238E27FC236}">
                <a16:creationId xmlns:a16="http://schemas.microsoft.com/office/drawing/2014/main" id="{3CBED9E4-0191-2EAE-8211-AAFA16ACFC6E}"/>
              </a:ext>
            </a:extLst>
          </p:cNvPr>
          <p:cNvPicPr>
            <a:picLocks noChangeAspect="1"/>
          </p:cNvPicPr>
          <p:nvPr/>
        </p:nvPicPr>
        <p:blipFill>
          <a:blip r:embed="rId2"/>
          <a:stretch>
            <a:fillRect/>
          </a:stretch>
        </p:blipFill>
        <p:spPr>
          <a:xfrm>
            <a:off x="8423834" y="3925048"/>
            <a:ext cx="3012141" cy="3682255"/>
          </a:xfrm>
          <a:prstGeom prst="rect">
            <a:avLst/>
          </a:prstGeom>
        </p:spPr>
      </p:pic>
      <p:pic>
        <p:nvPicPr>
          <p:cNvPr id="8" name="Imagem 7" descr="Uma imagem com Cara humana, veículo, Veículo terrestre, texto&#10;&#10;Os conteúdos gerados por IA poderão estar incorretos.">
            <a:extLst>
              <a:ext uri="{FF2B5EF4-FFF2-40B4-BE49-F238E27FC236}">
                <a16:creationId xmlns:a16="http://schemas.microsoft.com/office/drawing/2014/main" id="{1858D4C6-2739-315F-FAA5-76043573CA9D}"/>
              </a:ext>
            </a:extLst>
          </p:cNvPr>
          <p:cNvPicPr>
            <a:picLocks noChangeAspect="1"/>
          </p:cNvPicPr>
          <p:nvPr/>
        </p:nvPicPr>
        <p:blipFill>
          <a:blip r:embed="rId3"/>
          <a:stretch>
            <a:fillRect/>
          </a:stretch>
        </p:blipFill>
        <p:spPr>
          <a:xfrm>
            <a:off x="11428974" y="2074021"/>
            <a:ext cx="3104591" cy="3588497"/>
          </a:xfrm>
          <a:prstGeom prst="rect">
            <a:avLst/>
          </a:prstGeom>
        </p:spPr>
      </p:pic>
    </p:spTree>
    <p:extLst>
      <p:ext uri="{BB962C8B-B14F-4D97-AF65-F5344CB8AC3E}">
        <p14:creationId xmlns:p14="http://schemas.microsoft.com/office/powerpoint/2010/main" val="428983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852741A7-C10B-C821-7000-FE12CC390BCD}"/>
              </a:ext>
            </a:extLst>
          </p:cNvPr>
          <p:cNvSpPr/>
          <p:nvPr/>
        </p:nvSpPr>
        <p:spPr>
          <a:xfrm>
            <a:off x="-2054513" y="189937"/>
            <a:ext cx="6909197" cy="708779"/>
          </a:xfrm>
          <a:prstGeom prst="rect">
            <a:avLst/>
          </a:prstGeom>
          <a:noFill/>
          <a:ln/>
        </p:spPr>
        <p:txBody>
          <a:bodyPr wrap="none" lIns="0" tIns="0" rIns="0" bIns="0" rtlCol="0" anchor="t"/>
          <a:lstStyle/>
          <a:p>
            <a:pPr marL="0" indent="0" algn="ctr">
              <a:lnSpc>
                <a:spcPts val="5550"/>
              </a:lnSpc>
              <a:buNone/>
            </a:pPr>
            <a:endParaRPr lang="pt-PT" sz="4450" noProof="0"/>
          </a:p>
        </p:txBody>
      </p:sp>
      <p:sp>
        <p:nvSpPr>
          <p:cNvPr id="15" name="TextBox 14">
            <a:extLst>
              <a:ext uri="{FF2B5EF4-FFF2-40B4-BE49-F238E27FC236}">
                <a16:creationId xmlns:a16="http://schemas.microsoft.com/office/drawing/2014/main" id="{CA5C419A-39C9-09DA-35EC-02C910A082B9}"/>
              </a:ext>
            </a:extLst>
          </p:cNvPr>
          <p:cNvSpPr txBox="1"/>
          <p:nvPr/>
        </p:nvSpPr>
        <p:spPr>
          <a:xfrm>
            <a:off x="1402576" y="1691888"/>
            <a:ext cx="12744170" cy="584775"/>
          </a:xfrm>
          <a:prstGeom prst="rect">
            <a:avLst/>
          </a:prstGeom>
          <a:noFill/>
        </p:spPr>
        <p:txBody>
          <a:bodyPr wrap="square" lIns="91440" tIns="45720" rIns="91440" bIns="45720" rtlCol="0" anchor="t">
            <a:spAutoFit/>
          </a:bodyPr>
          <a:lstStyle/>
          <a:p>
            <a:r>
              <a:rPr lang="pt-PT" sz="1600">
                <a:latin typeface="DM Sans"/>
              </a:rPr>
              <a:t>1) Quais são as zonas de </a:t>
            </a:r>
            <a:r>
              <a:rPr lang="pt-PT" sz="1600" i="1" err="1">
                <a:latin typeface="DM Sans"/>
              </a:rPr>
              <a:t>pickup</a:t>
            </a:r>
            <a:r>
              <a:rPr lang="pt-PT" sz="1600">
                <a:latin typeface="DM Sans"/>
              </a:rPr>
              <a:t> que apresentam melhores resultados em termos de receita total e receita média por viagem?</a:t>
            </a:r>
          </a:p>
          <a:p>
            <a:endParaRPr lang="pt-PT" sz="1600" dirty="0">
              <a:latin typeface="DM Sans"/>
              <a:ea typeface="+mn-lt"/>
              <a:cs typeface="+mn-lt"/>
            </a:endParaRPr>
          </a:p>
        </p:txBody>
      </p:sp>
      <p:sp>
        <p:nvSpPr>
          <p:cNvPr id="10" name="Título 3">
            <a:extLst>
              <a:ext uri="{FF2B5EF4-FFF2-40B4-BE49-F238E27FC236}">
                <a16:creationId xmlns:a16="http://schemas.microsoft.com/office/drawing/2014/main" id="{945245BE-8F18-F326-ADF5-E9A7EF9D02DE}"/>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Plataformas</a:t>
            </a:r>
          </a:p>
        </p:txBody>
      </p:sp>
      <p:sp>
        <p:nvSpPr>
          <p:cNvPr id="4" name="CaixaDeTexto 3">
            <a:extLst>
              <a:ext uri="{FF2B5EF4-FFF2-40B4-BE49-F238E27FC236}">
                <a16:creationId xmlns:a16="http://schemas.microsoft.com/office/drawing/2014/main" id="{52082431-BD88-98F1-76BD-14F9DDB2A54A}"/>
              </a:ext>
            </a:extLst>
          </p:cNvPr>
          <p:cNvSpPr txBox="1"/>
          <p:nvPr/>
        </p:nvSpPr>
        <p:spPr>
          <a:xfrm>
            <a:off x="2156657" y="2531780"/>
            <a:ext cx="443289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2000" b="1" dirty="0">
                <a:solidFill>
                  <a:srgbClr val="4A4A4A"/>
                </a:solidFill>
                <a:latin typeface="DM Sans"/>
                <a:ea typeface="Calibri"/>
                <a:cs typeface="Calibri"/>
              </a:rPr>
              <a:t>Creative Mobile Technologies, LLC</a:t>
            </a:r>
            <a:endParaRPr lang="pt-PT" sz="2000" b="1" dirty="0"/>
          </a:p>
        </p:txBody>
      </p:sp>
      <p:sp>
        <p:nvSpPr>
          <p:cNvPr id="5" name="CaixaDeTexto 4">
            <a:extLst>
              <a:ext uri="{FF2B5EF4-FFF2-40B4-BE49-F238E27FC236}">
                <a16:creationId xmlns:a16="http://schemas.microsoft.com/office/drawing/2014/main" id="{93207CB0-36E6-ECEC-5494-FDFB43198CF1}"/>
              </a:ext>
            </a:extLst>
          </p:cNvPr>
          <p:cNvSpPr txBox="1"/>
          <p:nvPr/>
        </p:nvSpPr>
        <p:spPr>
          <a:xfrm>
            <a:off x="9310492" y="2531779"/>
            <a:ext cx="222757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2000" b="1" err="1">
                <a:solidFill>
                  <a:srgbClr val="4A4A4A"/>
                </a:solidFill>
                <a:latin typeface="DM Sans"/>
                <a:ea typeface="Calibri"/>
                <a:cs typeface="Calibri"/>
              </a:rPr>
              <a:t>VeriFone</a:t>
            </a:r>
            <a:r>
              <a:rPr lang="pt-PT" sz="2000" b="1" dirty="0">
                <a:solidFill>
                  <a:srgbClr val="4A4A4A"/>
                </a:solidFill>
                <a:latin typeface="DM Sans"/>
                <a:ea typeface="Calibri"/>
                <a:cs typeface="Calibri"/>
              </a:rPr>
              <a:t> Inc.</a:t>
            </a:r>
            <a:endParaRPr lang="pt-PT" sz="2000" b="1" dirty="0"/>
          </a:p>
        </p:txBody>
      </p:sp>
      <p:pic>
        <p:nvPicPr>
          <p:cNvPr id="12" name="Imagem 11" descr="Uma imagem com texto, captura de ecrã, Gráfico, file&#10;&#10;Os conteúdos gerados por IA poderão estar incorretos.">
            <a:extLst>
              <a:ext uri="{FF2B5EF4-FFF2-40B4-BE49-F238E27FC236}">
                <a16:creationId xmlns:a16="http://schemas.microsoft.com/office/drawing/2014/main" id="{DC92C0F1-6FC5-7130-226C-8A4F3CC0304B}"/>
              </a:ext>
            </a:extLst>
          </p:cNvPr>
          <p:cNvPicPr>
            <a:picLocks noChangeAspect="1"/>
          </p:cNvPicPr>
          <p:nvPr/>
        </p:nvPicPr>
        <p:blipFill>
          <a:blip r:embed="rId3"/>
          <a:stretch>
            <a:fillRect/>
          </a:stretch>
        </p:blipFill>
        <p:spPr>
          <a:xfrm>
            <a:off x="1886231" y="3613617"/>
            <a:ext cx="4981574" cy="2737036"/>
          </a:xfrm>
          <a:prstGeom prst="rect">
            <a:avLst/>
          </a:prstGeom>
        </p:spPr>
      </p:pic>
      <p:pic>
        <p:nvPicPr>
          <p:cNvPr id="13" name="Imagem 12" descr="Uma imagem com texto, captura de ecrã, file, Gráfico&#10;&#10;Os conteúdos gerados por IA poderão estar incorretos.">
            <a:extLst>
              <a:ext uri="{FF2B5EF4-FFF2-40B4-BE49-F238E27FC236}">
                <a16:creationId xmlns:a16="http://schemas.microsoft.com/office/drawing/2014/main" id="{0E2FE491-6FCA-B3DB-B029-87F6973F83B8}"/>
              </a:ext>
            </a:extLst>
          </p:cNvPr>
          <p:cNvPicPr>
            <a:picLocks noChangeAspect="1"/>
          </p:cNvPicPr>
          <p:nvPr/>
        </p:nvPicPr>
        <p:blipFill>
          <a:blip r:embed="rId4"/>
          <a:stretch>
            <a:fillRect/>
          </a:stretch>
        </p:blipFill>
        <p:spPr>
          <a:xfrm>
            <a:off x="7773521" y="3619220"/>
            <a:ext cx="4959723" cy="2725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CaixaDeTexto 13">
            <a:extLst>
              <a:ext uri="{FF2B5EF4-FFF2-40B4-BE49-F238E27FC236}">
                <a16:creationId xmlns:a16="http://schemas.microsoft.com/office/drawing/2014/main" id="{8E4CB08C-21BE-D4B3-45C9-C95ED6F2888B}"/>
              </a:ext>
            </a:extLst>
          </p:cNvPr>
          <p:cNvSpPr txBox="1"/>
          <p:nvPr/>
        </p:nvSpPr>
        <p:spPr>
          <a:xfrm>
            <a:off x="1356659" y="2199341"/>
            <a:ext cx="6197600" cy="49830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a:ea typeface="Calibri"/>
                <a:cs typeface="Calibri"/>
              </a:rPr>
              <a:t>Análise:</a:t>
            </a:r>
          </a:p>
          <a:p>
            <a:pPr algn="just"/>
            <a:endParaRPr lang="pt-PT" sz="1600" dirty="0">
              <a:latin typeface="DM Sans"/>
              <a:ea typeface="Calibri"/>
              <a:cs typeface="Calibri"/>
            </a:endParaRPr>
          </a:p>
          <a:p>
            <a:pPr marL="285750" indent="-285750" algn="just">
              <a:lnSpc>
                <a:spcPct val="150000"/>
              </a:lnSpc>
              <a:buFont typeface="Wingdings"/>
              <a:buChar char="Ø"/>
            </a:pPr>
            <a:r>
              <a:rPr lang="pt-PT" sz="1600" dirty="0">
                <a:latin typeface="DM Sans"/>
                <a:ea typeface="Calibri"/>
                <a:cs typeface="Calibri"/>
              </a:rPr>
              <a:t>Apesar de Manhattan ser a zona de </a:t>
            </a:r>
            <a:r>
              <a:rPr lang="pt-PT" sz="1600" i="1" dirty="0" err="1">
                <a:latin typeface="DM Sans"/>
                <a:ea typeface="Calibri"/>
                <a:cs typeface="Calibri"/>
              </a:rPr>
              <a:t>pickup</a:t>
            </a:r>
            <a:r>
              <a:rPr lang="pt-PT" sz="1600" i="1" dirty="0">
                <a:latin typeface="DM Sans"/>
                <a:ea typeface="Calibri"/>
                <a:cs typeface="Calibri"/>
              </a:rPr>
              <a:t> </a:t>
            </a:r>
            <a:r>
              <a:rPr lang="pt-PT" sz="1600" dirty="0">
                <a:latin typeface="DM Sans"/>
                <a:ea typeface="Calibri"/>
                <a:cs typeface="Calibri"/>
              </a:rPr>
              <a:t>com maior volume – tanto em número de viagens como em receita total - quando analisamos o ganho médio por viagem apresenta o valor mais baixo entre todas as zonas estudadas.</a:t>
            </a:r>
          </a:p>
          <a:p>
            <a:pPr marL="285750" indent="-285750" algn="just">
              <a:lnSpc>
                <a:spcPct val="150000"/>
              </a:lnSpc>
              <a:buFont typeface="Wingdings"/>
              <a:buChar char="Ø"/>
            </a:pPr>
            <a:r>
              <a:rPr lang="pt-PT" sz="1600" dirty="0">
                <a:latin typeface="DM Sans"/>
                <a:ea typeface="+mn-lt"/>
                <a:cs typeface="+mn-lt"/>
              </a:rPr>
              <a:t>Por outro lado, zonas como Queens, </a:t>
            </a:r>
            <a:r>
              <a:rPr lang="pt-PT" sz="1600" dirty="0" err="1">
                <a:latin typeface="DM Sans"/>
                <a:ea typeface="+mn-lt"/>
                <a:cs typeface="+mn-lt"/>
              </a:rPr>
              <a:t>Staten</a:t>
            </a:r>
            <a:r>
              <a:rPr lang="pt-PT" sz="1600" dirty="0">
                <a:latin typeface="DM Sans"/>
                <a:ea typeface="+mn-lt"/>
                <a:cs typeface="+mn-lt"/>
              </a:rPr>
              <a:t> Island e o Aeroporto de </a:t>
            </a:r>
            <a:r>
              <a:rPr lang="pt-PT" sz="1600" dirty="0" err="1">
                <a:latin typeface="DM Sans"/>
                <a:ea typeface="+mn-lt"/>
                <a:cs typeface="+mn-lt"/>
              </a:rPr>
              <a:t>Newart</a:t>
            </a:r>
            <a:r>
              <a:rPr lang="pt-PT" sz="1600" dirty="0">
                <a:latin typeface="DM Sans"/>
                <a:ea typeface="+mn-lt"/>
                <a:cs typeface="+mn-lt"/>
              </a:rPr>
              <a:t> (EWR) evidenciam ganhos médios significativamente superiores.</a:t>
            </a:r>
          </a:p>
          <a:p>
            <a:pPr marL="285750" indent="-285750" algn="just">
              <a:lnSpc>
                <a:spcPct val="150000"/>
              </a:lnSpc>
              <a:buFont typeface="Wingdings"/>
              <a:buChar char="Ø"/>
            </a:pPr>
            <a:r>
              <a:rPr lang="pt-PT" sz="1600" dirty="0">
                <a:latin typeface="DM Sans"/>
                <a:ea typeface="+mn-lt"/>
                <a:cs typeface="+mn-lt"/>
              </a:rPr>
              <a:t> É de salientar a presença de registos com zonas de </a:t>
            </a:r>
            <a:r>
              <a:rPr lang="pt-PT" sz="1600" i="1" dirty="0" err="1">
                <a:latin typeface="DM Sans"/>
                <a:ea typeface="+mn-lt"/>
                <a:cs typeface="+mn-lt"/>
              </a:rPr>
              <a:t>pickup</a:t>
            </a:r>
            <a:r>
              <a:rPr lang="pt-PT" sz="1600" dirty="0">
                <a:latin typeface="DM Sans"/>
                <a:ea typeface="+mn-lt"/>
                <a:cs typeface="+mn-lt"/>
              </a:rPr>
              <a:t> desconhecidas.</a:t>
            </a:r>
          </a:p>
          <a:p>
            <a:pPr algn="just">
              <a:lnSpc>
                <a:spcPct val="150000"/>
              </a:lnSpc>
            </a:pPr>
            <a:endParaRPr lang="pt-PT" sz="1600" dirty="0">
              <a:latin typeface="DM Sans"/>
              <a:ea typeface="+mn-lt"/>
              <a:cs typeface="+mn-lt"/>
            </a:endParaRPr>
          </a:p>
          <a:p>
            <a:pPr algn="just">
              <a:lnSpc>
                <a:spcPct val="150000"/>
              </a:lnSpc>
            </a:pPr>
            <a:endParaRPr lang="pt-PT" sz="1600" dirty="0">
              <a:highlight>
                <a:srgbClr val="FFFF00"/>
              </a:highlight>
              <a:latin typeface="DM Sans"/>
              <a:ea typeface="+mn-lt"/>
              <a:cs typeface="+mn-lt"/>
            </a:endParaRPr>
          </a:p>
        </p:txBody>
      </p:sp>
      <p:sp>
        <p:nvSpPr>
          <p:cNvPr id="5" name="TextBox 14">
            <a:extLst>
              <a:ext uri="{FF2B5EF4-FFF2-40B4-BE49-F238E27FC236}">
                <a16:creationId xmlns:a16="http://schemas.microsoft.com/office/drawing/2014/main" id="{D5E27CF8-6115-2CA6-8D80-538F1750154E}"/>
              </a:ext>
            </a:extLst>
          </p:cNvPr>
          <p:cNvSpPr txBox="1"/>
          <p:nvPr/>
        </p:nvSpPr>
        <p:spPr>
          <a:xfrm>
            <a:off x="1402576" y="1691888"/>
            <a:ext cx="12676934" cy="338554"/>
          </a:xfrm>
          <a:prstGeom prst="rect">
            <a:avLst/>
          </a:prstGeom>
          <a:noFill/>
        </p:spPr>
        <p:txBody>
          <a:bodyPr wrap="square" lIns="91440" tIns="45720" rIns="91440" bIns="45720" rtlCol="0" anchor="t">
            <a:spAutoFit/>
          </a:bodyPr>
          <a:lstStyle/>
          <a:p>
            <a:r>
              <a:rPr lang="pt-PT" sz="1600">
                <a:latin typeface="DM Sans"/>
              </a:rPr>
              <a:t>1) </a:t>
            </a:r>
            <a:r>
              <a:rPr lang="pt-PT" sz="1600" dirty="0">
                <a:latin typeface="DM Sans"/>
                <a:ea typeface="+mn-lt"/>
                <a:cs typeface="+mn-lt"/>
              </a:rPr>
              <a:t>Quais são as zonas de </a:t>
            </a:r>
            <a:r>
              <a:rPr lang="pt-PT" sz="1600" i="1" err="1">
                <a:latin typeface="DM Sans"/>
                <a:ea typeface="+mn-lt"/>
                <a:cs typeface="+mn-lt"/>
              </a:rPr>
              <a:t>pickup</a:t>
            </a:r>
            <a:r>
              <a:rPr lang="pt-PT" sz="1600">
                <a:latin typeface="DM Sans"/>
                <a:ea typeface="+mn-lt"/>
                <a:cs typeface="+mn-lt"/>
              </a:rPr>
              <a:t> que apresentam melhores resultados em termos de receita total e receita média por viagem?</a:t>
            </a:r>
            <a:endParaRPr lang="pt-PT" sz="1600" i="1">
              <a:latin typeface="DM Sans"/>
              <a:ea typeface="+mn-lt"/>
              <a:cs typeface="+mn-lt"/>
            </a:endParaRPr>
          </a:p>
        </p:txBody>
      </p:sp>
      <p:sp>
        <p:nvSpPr>
          <p:cNvPr id="7" name="Título 3">
            <a:extLst>
              <a:ext uri="{FF2B5EF4-FFF2-40B4-BE49-F238E27FC236}">
                <a16:creationId xmlns:a16="http://schemas.microsoft.com/office/drawing/2014/main" id="{19F7B500-7793-117E-CD28-7FC671545F23}"/>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Plataformas </a:t>
            </a:r>
          </a:p>
        </p:txBody>
      </p:sp>
      <p:sp>
        <p:nvSpPr>
          <p:cNvPr id="8" name="CaixaDeTexto 13">
            <a:extLst>
              <a:ext uri="{FF2B5EF4-FFF2-40B4-BE49-F238E27FC236}">
                <a16:creationId xmlns:a16="http://schemas.microsoft.com/office/drawing/2014/main" id="{B21551C6-A439-5833-CCF8-869A9648C480}"/>
              </a:ext>
            </a:extLst>
          </p:cNvPr>
          <p:cNvSpPr txBox="1"/>
          <p:nvPr/>
        </p:nvSpPr>
        <p:spPr>
          <a:xfrm>
            <a:off x="7741043" y="2199341"/>
            <a:ext cx="6195358" cy="57216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a:ea typeface="Calibri"/>
                <a:cs typeface="Calibri"/>
              </a:rPr>
              <a:t>Recomendações:</a:t>
            </a:r>
          </a:p>
          <a:p>
            <a:pPr algn="just"/>
            <a:endParaRPr lang="pt-PT" sz="1600" dirty="0">
              <a:latin typeface="DM Sans"/>
              <a:ea typeface="Calibri"/>
              <a:cs typeface="Calibri"/>
            </a:endParaRPr>
          </a:p>
          <a:p>
            <a:pPr marL="285750" indent="-285750" algn="just">
              <a:lnSpc>
                <a:spcPct val="150000"/>
              </a:lnSpc>
              <a:buFont typeface="Wingdings"/>
              <a:buChar char="Ø"/>
            </a:pPr>
            <a:r>
              <a:rPr lang="pt-PT" sz="1600" dirty="0">
                <a:latin typeface="DM Sans"/>
                <a:ea typeface="Calibri"/>
                <a:cs typeface="Calibri"/>
              </a:rPr>
              <a:t>Manter forte presença em Manhattan devido ao seu volume operacional – </a:t>
            </a:r>
            <a:r>
              <a:rPr lang="pt-PT" sz="1600" b="1" dirty="0">
                <a:latin typeface="DM Sans"/>
                <a:ea typeface="Calibri"/>
                <a:cs typeface="Calibri"/>
              </a:rPr>
              <a:t>priorizar a eficiência operacional.</a:t>
            </a:r>
            <a:endParaRPr lang="pt-PT" sz="1600" dirty="0">
              <a:latin typeface="DM Sans"/>
              <a:ea typeface="Calibri"/>
              <a:cs typeface="Calibri"/>
            </a:endParaRPr>
          </a:p>
          <a:p>
            <a:pPr marL="285750" indent="-285750" algn="just">
              <a:lnSpc>
                <a:spcPct val="150000"/>
              </a:lnSpc>
              <a:buFont typeface="Wingdings"/>
              <a:buChar char="Ø"/>
            </a:pPr>
            <a:r>
              <a:rPr lang="pt-PT" sz="1600" dirty="0">
                <a:latin typeface="DM Sans"/>
                <a:ea typeface="+mn-lt"/>
                <a:cs typeface="+mn-lt"/>
              </a:rPr>
              <a:t>Diversificar a operação com maior foco em zonas de alto potencial e receita média superior como Queens e </a:t>
            </a:r>
            <a:r>
              <a:rPr lang="pt-PT" sz="1600" dirty="0" err="1">
                <a:latin typeface="DM Sans"/>
                <a:ea typeface="+mn-lt"/>
                <a:cs typeface="+mn-lt"/>
              </a:rPr>
              <a:t>Staten</a:t>
            </a:r>
            <a:r>
              <a:rPr lang="pt-PT" sz="1600" dirty="0">
                <a:latin typeface="DM Sans"/>
                <a:ea typeface="+mn-lt"/>
                <a:cs typeface="+mn-lt"/>
              </a:rPr>
              <a:t> Island – </a:t>
            </a:r>
            <a:r>
              <a:rPr lang="pt-PT" sz="1600" b="1" dirty="0">
                <a:latin typeface="DM Sans"/>
                <a:ea typeface="+mn-lt"/>
                <a:cs typeface="+mn-lt"/>
              </a:rPr>
              <a:t>implementar incentivos específicos para motoristas.</a:t>
            </a:r>
            <a:endParaRPr lang="pt-PT" sz="1600" b="1" dirty="0">
              <a:latin typeface="DM Sans"/>
              <a:ea typeface="Calibri"/>
              <a:cs typeface="Calibri"/>
            </a:endParaRPr>
          </a:p>
          <a:p>
            <a:pPr marL="285750" indent="-285750" algn="just">
              <a:lnSpc>
                <a:spcPct val="150000"/>
              </a:lnSpc>
              <a:buFont typeface="Wingdings"/>
              <a:buChar char="Ø"/>
            </a:pPr>
            <a:r>
              <a:rPr lang="pt-PT" sz="1600" dirty="0">
                <a:latin typeface="DM Sans"/>
                <a:ea typeface="Calibri"/>
                <a:cs typeface="Calibri"/>
              </a:rPr>
              <a:t>Expandir a cobertura de </a:t>
            </a:r>
            <a:r>
              <a:rPr lang="pt-PT" sz="1600" i="1" dirty="0" err="1">
                <a:latin typeface="DM Sans"/>
                <a:ea typeface="Calibri"/>
                <a:cs typeface="Calibri"/>
              </a:rPr>
              <a:t>pickups</a:t>
            </a:r>
            <a:r>
              <a:rPr lang="pt-PT" sz="1600" dirty="0">
                <a:latin typeface="DM Sans"/>
                <a:ea typeface="Calibri"/>
                <a:cs typeface="Calibri"/>
              </a:rPr>
              <a:t> no Aeroporto de Newark (EWR)</a:t>
            </a:r>
            <a:r>
              <a:rPr lang="pt-PT" sz="1600" dirty="0">
                <a:latin typeface="DM Sans"/>
                <a:ea typeface="+mn-lt"/>
                <a:cs typeface="+mn-lt"/>
              </a:rPr>
              <a:t> especialmente em horários de pico, promovendo viagens "premium</a:t>
            </a:r>
            <a:r>
              <a:rPr lang="pt-PT" sz="1600" dirty="0">
                <a:latin typeface="DM Sans"/>
                <a:ea typeface="Calibri"/>
                <a:cs typeface="Calibri"/>
              </a:rPr>
              <a:t>" e maximizando viagens com valor superior – </a:t>
            </a:r>
            <a:r>
              <a:rPr lang="pt-PT" sz="1600" b="1" dirty="0">
                <a:latin typeface="DM Sans"/>
                <a:ea typeface="Calibri"/>
                <a:cs typeface="Calibri"/>
              </a:rPr>
              <a:t>parcerias com hotéis próximos e com companhias aéreas.</a:t>
            </a:r>
          </a:p>
          <a:p>
            <a:pPr marL="285750" indent="-285750" algn="just">
              <a:lnSpc>
                <a:spcPct val="150000"/>
              </a:lnSpc>
              <a:buFont typeface="Wingdings"/>
              <a:buChar char="Ø"/>
            </a:pPr>
            <a:r>
              <a:rPr lang="pt-PT" sz="1600" dirty="0">
                <a:latin typeface="DM Sans"/>
                <a:ea typeface="+mn-lt"/>
                <a:cs typeface="+mn-lt"/>
              </a:rPr>
              <a:t>Melhorar a qualidade e a plenitude dos dados recolhidos pelo sistema - </a:t>
            </a:r>
            <a:r>
              <a:rPr lang="pt-PT" sz="1600" b="1" dirty="0">
                <a:latin typeface="DM Sans"/>
                <a:ea typeface="+mn-lt"/>
                <a:cs typeface="+mn-lt"/>
              </a:rPr>
              <a:t>garantir análises mais fiáveis</a:t>
            </a:r>
            <a:r>
              <a:rPr lang="pt-PT" sz="1600" dirty="0">
                <a:latin typeface="DM Sans"/>
                <a:ea typeface="+mn-lt"/>
                <a:cs typeface="+mn-lt"/>
              </a:rPr>
              <a:t>. </a:t>
            </a:r>
            <a:endParaRPr lang="pt-PT" sz="1600" dirty="0">
              <a:latin typeface="DM Sans"/>
              <a:ea typeface="Calibri"/>
              <a:cs typeface="Calibri"/>
            </a:endParaRPr>
          </a:p>
          <a:p>
            <a:pPr algn="just">
              <a:lnSpc>
                <a:spcPct val="150000"/>
              </a:lnSpc>
            </a:pPr>
            <a:endParaRPr lang="pt-PT" sz="1600" dirty="0">
              <a:latin typeface="DM Sans"/>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Uma imagem com texto, captura de ecrã, Tipo de letra, número&#10;&#10;Os conteúdos gerados por IA poderão estar incorretos.">
            <a:extLst>
              <a:ext uri="{FF2B5EF4-FFF2-40B4-BE49-F238E27FC236}">
                <a16:creationId xmlns:a16="http://schemas.microsoft.com/office/drawing/2014/main" id="{A4663C1D-4FF7-AB13-52E1-F1FC22FF15B1}"/>
              </a:ext>
            </a:extLst>
          </p:cNvPr>
          <p:cNvPicPr>
            <a:picLocks noChangeAspect="1"/>
          </p:cNvPicPr>
          <p:nvPr/>
        </p:nvPicPr>
        <p:blipFill>
          <a:blip r:embed="rId2"/>
          <a:stretch>
            <a:fillRect/>
          </a:stretch>
        </p:blipFill>
        <p:spPr>
          <a:xfrm>
            <a:off x="3020546" y="3014102"/>
            <a:ext cx="3371851" cy="37747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Imagem 4" descr="Uma imagem com texto, captura de ecrã, Tipo de letra, número&#10;&#10;Os conteúdos gerados por IA poderão estar incorretos.">
            <a:extLst>
              <a:ext uri="{FF2B5EF4-FFF2-40B4-BE49-F238E27FC236}">
                <a16:creationId xmlns:a16="http://schemas.microsoft.com/office/drawing/2014/main" id="{5B9DE8EA-EDD4-AE56-94CD-B9A9137FB795}"/>
              </a:ext>
            </a:extLst>
          </p:cNvPr>
          <p:cNvPicPr>
            <a:picLocks noChangeAspect="1"/>
          </p:cNvPicPr>
          <p:nvPr/>
        </p:nvPicPr>
        <p:blipFill>
          <a:blip r:embed="rId3"/>
          <a:stretch>
            <a:fillRect/>
          </a:stretch>
        </p:blipFill>
        <p:spPr>
          <a:xfrm>
            <a:off x="8708651" y="3032312"/>
            <a:ext cx="3425639" cy="37651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ítulo 3">
            <a:extLst>
              <a:ext uri="{FF2B5EF4-FFF2-40B4-BE49-F238E27FC236}">
                <a16:creationId xmlns:a16="http://schemas.microsoft.com/office/drawing/2014/main" id="{410B8D87-B225-F9E7-CFB2-1E23BE622590}"/>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Plataformas</a:t>
            </a:r>
          </a:p>
        </p:txBody>
      </p:sp>
      <p:sp>
        <p:nvSpPr>
          <p:cNvPr id="11" name="TextBox 16">
            <a:extLst>
              <a:ext uri="{FF2B5EF4-FFF2-40B4-BE49-F238E27FC236}">
                <a16:creationId xmlns:a16="http://schemas.microsoft.com/office/drawing/2014/main" id="{4094B06C-4DD4-539A-A9D1-B146A18BC2AC}"/>
              </a:ext>
            </a:extLst>
          </p:cNvPr>
          <p:cNvSpPr txBox="1"/>
          <p:nvPr/>
        </p:nvSpPr>
        <p:spPr>
          <a:xfrm>
            <a:off x="1477760" y="1723384"/>
            <a:ext cx="7460165" cy="338554"/>
          </a:xfrm>
          <a:prstGeom prst="rect">
            <a:avLst/>
          </a:prstGeom>
          <a:noFill/>
        </p:spPr>
        <p:txBody>
          <a:bodyPr wrap="square" lIns="91440" tIns="45720" rIns="91440" bIns="45720" rtlCol="0" anchor="t">
            <a:spAutoFit/>
          </a:bodyPr>
          <a:lstStyle/>
          <a:p>
            <a:r>
              <a:rPr lang="pt-PT" sz="1600">
                <a:latin typeface="DM Sans"/>
              </a:rPr>
              <a:t>2)</a:t>
            </a:r>
            <a:r>
              <a:rPr lang="pt-PT" sz="1600" dirty="0">
                <a:latin typeface="DM Sans"/>
              </a:rPr>
              <a:t> Qual é a distribuição por tipo de veículo e dia da semana? </a:t>
            </a:r>
            <a:endParaRPr lang="pt-PT" sz="1600" i="1" dirty="0">
              <a:latin typeface="DM Sans"/>
            </a:endParaRPr>
          </a:p>
        </p:txBody>
      </p:sp>
      <p:sp>
        <p:nvSpPr>
          <p:cNvPr id="13" name="CaixaDeTexto 12">
            <a:extLst>
              <a:ext uri="{FF2B5EF4-FFF2-40B4-BE49-F238E27FC236}">
                <a16:creationId xmlns:a16="http://schemas.microsoft.com/office/drawing/2014/main" id="{50DF92CE-F801-070D-42B6-F707867E4EB4}"/>
              </a:ext>
            </a:extLst>
          </p:cNvPr>
          <p:cNvSpPr txBox="1"/>
          <p:nvPr/>
        </p:nvSpPr>
        <p:spPr>
          <a:xfrm>
            <a:off x="2586963" y="2315880"/>
            <a:ext cx="472648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2000" b="1" dirty="0">
                <a:solidFill>
                  <a:srgbClr val="4A4A4A"/>
                </a:solidFill>
                <a:latin typeface="DM Sans"/>
                <a:ea typeface="Calibri"/>
                <a:cs typeface="Calibri"/>
              </a:rPr>
              <a:t>Creative Mobile Technologies, LLC</a:t>
            </a:r>
            <a:endParaRPr lang="pt-PT" sz="2000" b="1" dirty="0"/>
          </a:p>
        </p:txBody>
      </p:sp>
      <p:sp>
        <p:nvSpPr>
          <p:cNvPr id="15" name="CaixaDeTexto 14">
            <a:extLst>
              <a:ext uri="{FF2B5EF4-FFF2-40B4-BE49-F238E27FC236}">
                <a16:creationId xmlns:a16="http://schemas.microsoft.com/office/drawing/2014/main" id="{7EF1FDFB-5AF3-2A6F-4AAF-4FC4CD58F8DF}"/>
              </a:ext>
            </a:extLst>
          </p:cNvPr>
          <p:cNvSpPr txBox="1"/>
          <p:nvPr/>
        </p:nvSpPr>
        <p:spPr>
          <a:xfrm>
            <a:off x="9297043" y="2316626"/>
            <a:ext cx="222757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2000" b="1" err="1">
                <a:solidFill>
                  <a:srgbClr val="4A4A4A"/>
                </a:solidFill>
                <a:latin typeface="DM Sans"/>
                <a:ea typeface="Calibri"/>
                <a:cs typeface="Calibri"/>
              </a:rPr>
              <a:t>VeriFone</a:t>
            </a:r>
            <a:r>
              <a:rPr lang="pt-PT" sz="2000" b="1" dirty="0">
                <a:solidFill>
                  <a:srgbClr val="4A4A4A"/>
                </a:solidFill>
                <a:latin typeface="DM Sans"/>
                <a:ea typeface="Calibri"/>
                <a:cs typeface="Calibri"/>
              </a:rPr>
              <a:t> Inc.</a:t>
            </a:r>
            <a:endParaRPr lang="pt-PT" sz="2000" b="1" dirty="0"/>
          </a:p>
        </p:txBody>
      </p:sp>
    </p:spTree>
    <p:extLst>
      <p:ext uri="{BB962C8B-B14F-4D97-AF65-F5344CB8AC3E}">
        <p14:creationId xmlns:p14="http://schemas.microsoft.com/office/powerpoint/2010/main" val="3425309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3">
            <a:extLst>
              <a:ext uri="{FF2B5EF4-FFF2-40B4-BE49-F238E27FC236}">
                <a16:creationId xmlns:a16="http://schemas.microsoft.com/office/drawing/2014/main" id="{FB871E63-C5E3-7509-2695-F0069402CE94}"/>
              </a:ext>
            </a:extLst>
          </p:cNvPr>
          <p:cNvSpPr txBox="1"/>
          <p:nvPr/>
        </p:nvSpPr>
        <p:spPr>
          <a:xfrm>
            <a:off x="1354836" y="2186830"/>
            <a:ext cx="6195359" cy="682969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a:ea typeface="Calibri"/>
                <a:cs typeface="Calibri"/>
              </a:rPr>
              <a:t>Análise:</a:t>
            </a:r>
          </a:p>
          <a:p>
            <a:pPr algn="just"/>
            <a:endParaRPr lang="pt-PT" sz="1600" b="1" dirty="0">
              <a:latin typeface="DM Sans"/>
              <a:ea typeface="Calibri"/>
              <a:cs typeface="Calibri"/>
            </a:endParaRPr>
          </a:p>
          <a:p>
            <a:pPr marL="285750" indent="-285750" algn="just">
              <a:lnSpc>
                <a:spcPct val="150000"/>
              </a:lnSpc>
              <a:buFont typeface="Wingdings,Sans-Serif"/>
              <a:buChar char="Ø"/>
            </a:pPr>
            <a:r>
              <a:rPr lang="pt-PT" sz="1600" dirty="0">
                <a:latin typeface="DM Sans"/>
                <a:ea typeface="Calibri"/>
                <a:cs typeface="Calibri"/>
              </a:rPr>
              <a:t>A Creative Mobile </a:t>
            </a:r>
            <a:r>
              <a:rPr lang="pt-PT" sz="1600" dirty="0" err="1">
                <a:latin typeface="DM Sans"/>
                <a:ea typeface="Calibri"/>
                <a:cs typeface="Calibri"/>
              </a:rPr>
              <a:t>Tecnologies</a:t>
            </a:r>
            <a:r>
              <a:rPr lang="pt-PT" sz="1600" dirty="0">
                <a:latin typeface="DM Sans"/>
                <a:ea typeface="Calibri"/>
                <a:cs typeface="Calibri"/>
              </a:rPr>
              <a:t> apresenta um peso muito baixo nas categorias de táxis médios (5-6 passageiros) e não regista qualquer viagem com veículos maiores (mais de 7 passageiros) -  focada em deslocações urbanas curtas.</a:t>
            </a:r>
            <a:endParaRPr lang="en-US" sz="1600" dirty="0">
              <a:latin typeface="DM Sans"/>
              <a:ea typeface="Calibri"/>
              <a:cs typeface="Calibri"/>
            </a:endParaRPr>
          </a:p>
          <a:p>
            <a:pPr marL="285750" indent="-285750" algn="just">
              <a:lnSpc>
                <a:spcPct val="150000"/>
              </a:lnSpc>
              <a:buFont typeface="Wingdings,Sans-Serif"/>
              <a:buChar char="Ø"/>
            </a:pPr>
            <a:r>
              <a:rPr lang="pt-PT" sz="1600" dirty="0">
                <a:latin typeface="DM Sans"/>
                <a:ea typeface="Calibri"/>
                <a:cs typeface="Calibri"/>
              </a:rPr>
              <a:t>Já a operadora </a:t>
            </a:r>
            <a:r>
              <a:rPr lang="pt-PT" sz="1600" dirty="0" err="1">
                <a:latin typeface="DM Sans"/>
                <a:ea typeface="Calibri"/>
                <a:cs typeface="Calibri"/>
              </a:rPr>
              <a:t>VeriFone</a:t>
            </a:r>
            <a:r>
              <a:rPr lang="pt-PT" sz="1600" dirty="0">
                <a:latin typeface="DM Sans"/>
                <a:ea typeface="Calibri"/>
                <a:cs typeface="Calibri"/>
              </a:rPr>
              <a:t> </a:t>
            </a:r>
            <a:r>
              <a:rPr lang="pt-PT" sz="1600" dirty="0" err="1">
                <a:latin typeface="DM Sans"/>
                <a:ea typeface="Calibri"/>
                <a:cs typeface="Calibri"/>
              </a:rPr>
              <a:t>Inc</a:t>
            </a:r>
            <a:r>
              <a:rPr lang="pt-PT" sz="1600" dirty="0">
                <a:latin typeface="DM Sans"/>
                <a:ea typeface="Calibri"/>
                <a:cs typeface="Calibri"/>
              </a:rPr>
              <a:t> mostra alguma aposta em veículos maiores com viagens para mais de 4 passageiros, embora o peso seja ainda muito residual - diversificação muito limitada ao nível da oferta do tipo de veículo.</a:t>
            </a:r>
          </a:p>
          <a:p>
            <a:pPr marL="285750" indent="-285750" algn="just">
              <a:lnSpc>
                <a:spcPct val="150000"/>
              </a:lnSpc>
              <a:buFont typeface="Wingdings,Sans-Serif"/>
              <a:buChar char="Ø"/>
            </a:pPr>
            <a:r>
              <a:rPr lang="pt-PT" sz="1600" dirty="0">
                <a:latin typeface="DM Sans"/>
                <a:ea typeface="Calibri"/>
                <a:cs typeface="Calibri"/>
              </a:rPr>
              <a:t>Os dias com maior volume de </a:t>
            </a:r>
            <a:r>
              <a:rPr lang="pt-PT" sz="1600" dirty="0" err="1">
                <a:latin typeface="DM Sans"/>
                <a:ea typeface="Calibri"/>
                <a:cs typeface="Calibri"/>
              </a:rPr>
              <a:t>pickups</a:t>
            </a:r>
            <a:r>
              <a:rPr lang="pt-PT" sz="1600" dirty="0">
                <a:latin typeface="DM Sans"/>
                <a:ea typeface="Calibri"/>
                <a:cs typeface="Calibri"/>
              </a:rPr>
              <a:t> são sexta-feira, segunda-feira e quinta-feira em ambas as operadoras no conjunto dos dois meses – maior mobilidade nos dias associados ao fim e início da semana de trabalho.</a:t>
            </a:r>
          </a:p>
          <a:p>
            <a:pPr marL="285750" indent="-285750" algn="just">
              <a:lnSpc>
                <a:spcPct val="150000"/>
              </a:lnSpc>
              <a:buFont typeface="Wingdings,Sans-Serif"/>
              <a:buChar char="Ø"/>
            </a:pPr>
            <a:endParaRPr lang="pt-PT" sz="1600" dirty="0">
              <a:latin typeface="DM Sans"/>
              <a:ea typeface="Calibri"/>
              <a:cs typeface="Calibri"/>
            </a:endParaRPr>
          </a:p>
          <a:p>
            <a:pPr marL="285750" indent="-285750" algn="just">
              <a:lnSpc>
                <a:spcPct val="150000"/>
              </a:lnSpc>
              <a:buFont typeface="Wingdings"/>
              <a:buChar char="Ø"/>
            </a:pPr>
            <a:endParaRPr lang="pt-PT" sz="1600" dirty="0">
              <a:latin typeface="DM Sans"/>
              <a:ea typeface="Calibri"/>
              <a:cs typeface="Calibri"/>
            </a:endParaRPr>
          </a:p>
          <a:p>
            <a:pPr marL="285750" indent="-285750" algn="just">
              <a:lnSpc>
                <a:spcPct val="150000"/>
              </a:lnSpc>
              <a:buFont typeface="Wingdings"/>
              <a:buChar char="Ø"/>
            </a:pPr>
            <a:endParaRPr lang="pt-PT" sz="1600" dirty="0">
              <a:latin typeface="DM Sans"/>
              <a:ea typeface="+mn-lt"/>
              <a:cs typeface="+mn-lt"/>
            </a:endParaRPr>
          </a:p>
          <a:p>
            <a:pPr marL="285750" indent="-285750" algn="just">
              <a:lnSpc>
                <a:spcPct val="150000"/>
              </a:lnSpc>
              <a:buFont typeface="Wingdings"/>
              <a:buChar char="Ø"/>
            </a:pPr>
            <a:endParaRPr lang="pt-PT" sz="1600" dirty="0">
              <a:latin typeface="DM Sans"/>
              <a:ea typeface="+mn-lt"/>
              <a:cs typeface="+mn-lt"/>
            </a:endParaRPr>
          </a:p>
          <a:p>
            <a:pPr algn="just">
              <a:lnSpc>
                <a:spcPct val="150000"/>
              </a:lnSpc>
            </a:pPr>
            <a:endParaRPr lang="pt-PT" sz="1600" dirty="0">
              <a:latin typeface="DM Sans"/>
              <a:ea typeface="+mn-lt"/>
              <a:cs typeface="+mn-lt"/>
            </a:endParaRPr>
          </a:p>
        </p:txBody>
      </p:sp>
      <p:sp>
        <p:nvSpPr>
          <p:cNvPr id="4" name="TextBox 16">
            <a:extLst>
              <a:ext uri="{FF2B5EF4-FFF2-40B4-BE49-F238E27FC236}">
                <a16:creationId xmlns:a16="http://schemas.microsoft.com/office/drawing/2014/main" id="{94FF7960-A714-FEA4-919C-6D578038575B}"/>
              </a:ext>
            </a:extLst>
          </p:cNvPr>
          <p:cNvSpPr txBox="1"/>
          <p:nvPr/>
        </p:nvSpPr>
        <p:spPr>
          <a:xfrm>
            <a:off x="1354836" y="1721835"/>
            <a:ext cx="7460165" cy="338554"/>
          </a:xfrm>
          <a:prstGeom prst="rect">
            <a:avLst/>
          </a:prstGeom>
          <a:noFill/>
        </p:spPr>
        <p:txBody>
          <a:bodyPr wrap="square" lIns="91440" tIns="45720" rIns="91440" bIns="45720" rtlCol="0" anchor="t">
            <a:spAutoFit/>
          </a:bodyPr>
          <a:lstStyle/>
          <a:p>
            <a:r>
              <a:rPr lang="pt-PT" sz="1600" dirty="0">
                <a:latin typeface="DM Sans"/>
              </a:rPr>
              <a:t>2) Qual é a distribuição por tipo de veículo e dia da semana? </a:t>
            </a:r>
            <a:endParaRPr lang="pt-PT" sz="1600" i="1" dirty="0">
              <a:latin typeface="DM Sans"/>
            </a:endParaRPr>
          </a:p>
        </p:txBody>
      </p:sp>
      <p:sp>
        <p:nvSpPr>
          <p:cNvPr id="6" name="Título 3">
            <a:extLst>
              <a:ext uri="{FF2B5EF4-FFF2-40B4-BE49-F238E27FC236}">
                <a16:creationId xmlns:a16="http://schemas.microsoft.com/office/drawing/2014/main" id="{C0CAB8D3-8031-080F-C7AA-375C71C8512F}"/>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Plataformas</a:t>
            </a:r>
          </a:p>
        </p:txBody>
      </p:sp>
      <p:sp>
        <p:nvSpPr>
          <p:cNvPr id="8" name="CaixaDeTexto 13">
            <a:extLst>
              <a:ext uri="{FF2B5EF4-FFF2-40B4-BE49-F238E27FC236}">
                <a16:creationId xmlns:a16="http://schemas.microsoft.com/office/drawing/2014/main" id="{F3AF3B66-2415-0703-40A0-4443F8615A63}"/>
              </a:ext>
            </a:extLst>
          </p:cNvPr>
          <p:cNvSpPr txBox="1"/>
          <p:nvPr/>
        </p:nvSpPr>
        <p:spPr>
          <a:xfrm>
            <a:off x="7835227" y="2063378"/>
            <a:ext cx="5711265" cy="51016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150000"/>
              </a:lnSpc>
            </a:pPr>
            <a:r>
              <a:rPr lang="pt-PT" sz="1600" b="1" dirty="0">
                <a:latin typeface="DM Sans"/>
                <a:ea typeface="Calibri"/>
                <a:cs typeface="Calibri"/>
              </a:rPr>
              <a:t>Recomendações:</a:t>
            </a:r>
            <a:endParaRPr lang="pt-PT" dirty="0">
              <a:ea typeface="Calibri"/>
              <a:cs typeface="Calibri"/>
            </a:endParaRPr>
          </a:p>
          <a:p>
            <a:pPr algn="just"/>
            <a:endParaRPr lang="pt-PT" sz="1600" dirty="0">
              <a:latin typeface="DM Sans"/>
              <a:ea typeface="Calibri"/>
              <a:cs typeface="Calibri"/>
            </a:endParaRPr>
          </a:p>
          <a:p>
            <a:pPr marL="285750" indent="-285750" algn="just">
              <a:lnSpc>
                <a:spcPct val="150000"/>
              </a:lnSpc>
              <a:buFont typeface="Wingdings"/>
              <a:buChar char="Ø"/>
            </a:pPr>
            <a:r>
              <a:rPr lang="pt-PT" sz="1600" dirty="0">
                <a:latin typeface="DM Sans"/>
                <a:ea typeface="+mn-lt"/>
                <a:cs typeface="+mn-lt"/>
              </a:rPr>
              <a:t>Focar na eficiência operacional das viaturas privadas - </a:t>
            </a:r>
            <a:r>
              <a:rPr lang="pt-PT" sz="1600" b="1" dirty="0">
                <a:latin typeface="DM Sans"/>
                <a:ea typeface="+mn-lt"/>
                <a:cs typeface="+mn-lt"/>
              </a:rPr>
              <a:t>otimizar rotas curtas.</a:t>
            </a:r>
            <a:endParaRPr lang="pt-PT" sz="1600" b="1" dirty="0">
              <a:latin typeface="DM Sans"/>
              <a:ea typeface="Calibri"/>
              <a:cs typeface="Calibri"/>
            </a:endParaRPr>
          </a:p>
          <a:p>
            <a:pPr marL="285750" indent="-285750" algn="just">
              <a:lnSpc>
                <a:spcPct val="150000"/>
              </a:lnSpc>
              <a:buFont typeface="Wingdings"/>
              <a:buChar char="Ø"/>
            </a:pPr>
            <a:r>
              <a:rPr lang="pt-PT" sz="1600" dirty="0">
                <a:latin typeface="DM Sans"/>
                <a:ea typeface="Calibri"/>
                <a:cs typeface="Calibri"/>
              </a:rPr>
              <a:t>Explorar o segmento de carros com tipologia média devido ao seu potencial de crescimento e ganho médio por viagem - </a:t>
            </a:r>
            <a:r>
              <a:rPr lang="pt-PT" sz="1600" b="1" dirty="0">
                <a:latin typeface="DM Sans"/>
                <a:ea typeface="+mn-lt"/>
                <a:cs typeface="+mn-lt"/>
              </a:rPr>
              <a:t>promover serviços direcionados para famílias e grupos turísticos.</a:t>
            </a:r>
            <a:endParaRPr lang="pt-PT" sz="1600" b="1" dirty="0">
              <a:latin typeface="DM Sans"/>
              <a:ea typeface="Calibri"/>
              <a:cs typeface="Calibri"/>
            </a:endParaRPr>
          </a:p>
          <a:p>
            <a:pPr marL="285750" indent="-285750" algn="just">
              <a:lnSpc>
                <a:spcPct val="150000"/>
              </a:lnSpc>
              <a:buFont typeface="Wingdings"/>
              <a:buChar char="Ø"/>
            </a:pPr>
            <a:r>
              <a:rPr lang="pt-PT" sz="1600" dirty="0">
                <a:latin typeface="DM Sans"/>
                <a:ea typeface="Calibri"/>
                <a:cs typeface="Calibri"/>
              </a:rPr>
              <a:t>Criar campanhas específicas para aumentar o volume de viagens nos dias com menos movimento – </a:t>
            </a:r>
            <a:r>
              <a:rPr lang="pt-PT" sz="1600" b="1" dirty="0">
                <a:latin typeface="DM Sans"/>
                <a:ea typeface="Calibri"/>
                <a:cs typeface="Calibri"/>
              </a:rPr>
              <a:t>programas de fidelização.</a:t>
            </a:r>
            <a:endParaRPr lang="pt-PT" sz="1600" dirty="0">
              <a:latin typeface="DM Sans"/>
              <a:ea typeface="Calibri"/>
              <a:cs typeface="Calibri"/>
            </a:endParaRPr>
          </a:p>
          <a:p>
            <a:pPr algn="just">
              <a:lnSpc>
                <a:spcPct val="150000"/>
              </a:lnSpc>
            </a:pPr>
            <a:endParaRPr lang="pt-PT" sz="1600" dirty="0">
              <a:latin typeface="DM Sans"/>
              <a:ea typeface="Calibri"/>
              <a:cs typeface="Calibri"/>
            </a:endParaRPr>
          </a:p>
          <a:p>
            <a:pPr algn="just">
              <a:lnSpc>
                <a:spcPct val="150000"/>
              </a:lnSpc>
            </a:pPr>
            <a:endParaRPr lang="pt-PT" sz="1600" dirty="0">
              <a:latin typeface="DM Sans"/>
              <a:ea typeface="Calibri"/>
              <a:cs typeface="Calibri"/>
            </a:endParaRPr>
          </a:p>
          <a:p>
            <a:pPr algn="just">
              <a:lnSpc>
                <a:spcPct val="150000"/>
              </a:lnSpc>
            </a:pPr>
            <a:endParaRPr lang="pt-PT" sz="1600" dirty="0">
              <a:latin typeface="Calibri" panose="020F0502020204030204"/>
              <a:ea typeface="Calibri"/>
              <a:cs typeface="Calibri"/>
            </a:endParaRPr>
          </a:p>
        </p:txBody>
      </p:sp>
    </p:spTree>
    <p:extLst>
      <p:ext uri="{BB962C8B-B14F-4D97-AF65-F5344CB8AC3E}">
        <p14:creationId xmlns:p14="http://schemas.microsoft.com/office/powerpoint/2010/main" val="325132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656BBF54-0220-989C-3C40-63FFC893F458}"/>
              </a:ext>
            </a:extLst>
          </p:cNvPr>
          <p:cNvPicPr>
            <a:picLocks noChangeAspect="1"/>
          </p:cNvPicPr>
          <p:nvPr/>
        </p:nvPicPr>
        <p:blipFill>
          <a:blip r:embed="rId3"/>
          <a:stretch>
            <a:fillRect/>
          </a:stretch>
        </p:blipFill>
        <p:spPr>
          <a:xfrm>
            <a:off x="7995965" y="2640668"/>
            <a:ext cx="5505725" cy="34367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6" name="TextBox 25">
            <a:extLst>
              <a:ext uri="{FF2B5EF4-FFF2-40B4-BE49-F238E27FC236}">
                <a16:creationId xmlns:a16="http://schemas.microsoft.com/office/drawing/2014/main" id="{4B64AE9B-3D92-A89E-2056-E2DF80ED3B6D}"/>
              </a:ext>
            </a:extLst>
          </p:cNvPr>
          <p:cNvSpPr txBox="1"/>
          <p:nvPr/>
        </p:nvSpPr>
        <p:spPr>
          <a:xfrm>
            <a:off x="1382751" y="1750741"/>
            <a:ext cx="8675648" cy="369332"/>
          </a:xfrm>
          <a:prstGeom prst="rect">
            <a:avLst/>
          </a:prstGeom>
          <a:noFill/>
        </p:spPr>
        <p:txBody>
          <a:bodyPr wrap="square" lIns="91440" tIns="45720" rIns="91440" bIns="45720" rtlCol="0" anchor="t">
            <a:spAutoFit/>
          </a:bodyPr>
          <a:lstStyle/>
          <a:p>
            <a:r>
              <a:rPr lang="pt-PT"/>
              <a:t>3) Quais são as cinco horas em média por dia com maior número de início de viagens ?  </a:t>
            </a:r>
            <a:endParaRPr lang="pt-PT" i="1"/>
          </a:p>
        </p:txBody>
      </p:sp>
      <p:sp>
        <p:nvSpPr>
          <p:cNvPr id="2" name="Título 3">
            <a:extLst>
              <a:ext uri="{FF2B5EF4-FFF2-40B4-BE49-F238E27FC236}">
                <a16:creationId xmlns:a16="http://schemas.microsoft.com/office/drawing/2014/main" id="{97CD42B7-AC8B-732A-2C88-A6306F4A77FC}"/>
              </a:ext>
            </a:extLst>
          </p:cNvPr>
          <p:cNvSpPr txBox="1">
            <a:spLocks/>
          </p:cNvSpPr>
          <p:nvPr/>
        </p:nvSpPr>
        <p:spPr>
          <a:xfrm>
            <a:off x="1378282" y="559824"/>
            <a:ext cx="11917680" cy="915408"/>
          </a:xfrm>
          <a:prstGeom prst="rect">
            <a:avLst/>
          </a:prstGeom>
        </p:spPr>
        <p:txBody>
          <a:bodyPr lIns="91440" tIns="45720" rIns="91440" bIns="45720" anchor="t">
            <a:normAutofit/>
          </a:bodyPr>
          <a:lstStyle>
            <a:defPPr>
              <a:defRPr lang="en-US"/>
            </a:defPPr>
            <a:lvl1pPr marL="0"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PT" sz="4800" dirty="0">
                <a:latin typeface="DM Sans Semi Bold"/>
                <a:ea typeface="Calibri Light"/>
                <a:cs typeface="Calibri Light"/>
              </a:rPr>
              <a:t>Plataformas</a:t>
            </a:r>
          </a:p>
        </p:txBody>
      </p:sp>
      <p:sp>
        <p:nvSpPr>
          <p:cNvPr id="6" name="CaixaDeTexto 13">
            <a:extLst>
              <a:ext uri="{FF2B5EF4-FFF2-40B4-BE49-F238E27FC236}">
                <a16:creationId xmlns:a16="http://schemas.microsoft.com/office/drawing/2014/main" id="{659A4ABF-DFE2-5AC4-6AD9-520A9503AF82}"/>
              </a:ext>
            </a:extLst>
          </p:cNvPr>
          <p:cNvSpPr txBox="1"/>
          <p:nvPr/>
        </p:nvSpPr>
        <p:spPr>
          <a:xfrm>
            <a:off x="1378282" y="2346886"/>
            <a:ext cx="6197600" cy="32594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Análise:</a:t>
            </a:r>
          </a:p>
          <a:p>
            <a:pPr algn="l"/>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15h é o horário com mais viagens, ultrapassando os 60 mil.</a:t>
            </a:r>
          </a:p>
          <a:p>
            <a:pPr marL="285750" indent="-285750" algn="just">
              <a:buFont typeface="Wingdings" panose="05000000000000000000" pitchFamily="2" charset="2"/>
              <a:buChar char="Ø"/>
            </a:pPr>
            <a:r>
              <a:rPr lang="pt-PT" sz="1600" dirty="0">
                <a:latin typeface="DM Sans"/>
                <a:ea typeface="Calibri"/>
                <a:cs typeface="Calibri"/>
              </a:rPr>
              <a:t>O número de viagens é relativamente estável entre a 13h e as 17h.</a:t>
            </a:r>
          </a:p>
          <a:p>
            <a:pPr marL="285750" indent="-285750" algn="just">
              <a:buFont typeface="Wingdings" panose="05000000000000000000" pitchFamily="2" charset="2"/>
              <a:buChar char="Ø"/>
            </a:pPr>
            <a:r>
              <a:rPr lang="pt-PT" sz="1600" dirty="0">
                <a:latin typeface="DM Sans"/>
                <a:ea typeface="Calibri"/>
                <a:cs typeface="Calibri"/>
              </a:rPr>
              <a:t>Existindo uma pequena variação entre as 15h e as 17h</a:t>
            </a:r>
          </a:p>
          <a:p>
            <a:pPr marL="285750" indent="-285750" algn="just">
              <a:buFont typeface="Wingdings" panose="05000000000000000000" pitchFamily="2" charset="2"/>
              <a:buChar char="Ø"/>
            </a:pPr>
            <a:r>
              <a:rPr lang="pt-PT" sz="1600" dirty="0">
                <a:latin typeface="DM Sans"/>
                <a:ea typeface="Calibri"/>
                <a:cs typeface="Calibri"/>
              </a:rPr>
              <a:t>As horas de 13h e 17h são as que têm menos volume de viagens.</a:t>
            </a:r>
          </a:p>
          <a:p>
            <a:pPr marL="285750" indent="-285750" algn="just">
              <a:buFont typeface="Wingdings" panose="05000000000000000000" pitchFamily="2" charset="2"/>
              <a:buChar char="Ø"/>
            </a:pPr>
            <a:r>
              <a:rPr lang="pt-PT" sz="1600" dirty="0">
                <a:latin typeface="DM Sans"/>
                <a:ea typeface="Calibri"/>
                <a:cs typeface="Calibri"/>
              </a:rPr>
              <a:t>Em suma, 15h é o horário com mais demanda de viagens.</a:t>
            </a:r>
          </a:p>
          <a:p>
            <a:endParaRPr lang="pt-PT" sz="1600" dirty="0">
              <a:latin typeface="DM Sans"/>
              <a:ea typeface="Calibri"/>
              <a:cs typeface="Calibri"/>
            </a:endParaRP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sp>
        <p:nvSpPr>
          <p:cNvPr id="7" name="CaixaDeTexto 13">
            <a:extLst>
              <a:ext uri="{FF2B5EF4-FFF2-40B4-BE49-F238E27FC236}">
                <a16:creationId xmlns:a16="http://schemas.microsoft.com/office/drawing/2014/main" id="{6EB26274-B854-40AF-CB30-43CEA3EAF354}"/>
              </a:ext>
            </a:extLst>
          </p:cNvPr>
          <p:cNvSpPr txBox="1"/>
          <p:nvPr/>
        </p:nvSpPr>
        <p:spPr>
          <a:xfrm>
            <a:off x="1296368" y="4713939"/>
            <a:ext cx="6197600" cy="375192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Recomendações:</a:t>
            </a:r>
          </a:p>
          <a:p>
            <a:pPr algn="l"/>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Aumentar a disponibilidade de motoristas no horário pico, ou seja, 15h.</a:t>
            </a:r>
          </a:p>
          <a:p>
            <a:pPr marL="285750" indent="-285750" algn="just">
              <a:buFont typeface="Wingdings" panose="05000000000000000000" pitchFamily="2" charset="2"/>
              <a:buChar char="Ø"/>
            </a:pPr>
            <a:r>
              <a:rPr lang="pt-PT" sz="1600" dirty="0">
                <a:latin typeface="DM Sans"/>
                <a:ea typeface="Calibri"/>
                <a:cs typeface="Calibri"/>
              </a:rPr>
              <a:t>Otimizar preços com tarifas dinâmicas (aplicar tarifas dinâmicas mais suaves, garantindo assim que o preço continue competitivo).</a:t>
            </a:r>
          </a:p>
          <a:p>
            <a:pPr marL="285750" indent="-285750" algn="just">
              <a:buFont typeface="Wingdings" panose="05000000000000000000" pitchFamily="2" charset="2"/>
              <a:buChar char="Ø"/>
            </a:pPr>
            <a:r>
              <a:rPr lang="pt-PT" sz="1600" dirty="0">
                <a:latin typeface="DM Sans"/>
                <a:ea typeface="Calibri"/>
                <a:cs typeface="Calibri"/>
              </a:rPr>
              <a:t>Planejamento de rotas inteligentes.</a:t>
            </a:r>
          </a:p>
          <a:p>
            <a:pPr marL="285750" indent="-285750" algn="just">
              <a:buFont typeface="Wingdings" panose="05000000000000000000" pitchFamily="2" charset="2"/>
              <a:buChar char="Ø"/>
            </a:pPr>
            <a:r>
              <a:rPr lang="pt-PT" sz="1600" dirty="0">
                <a:latin typeface="DM Sans"/>
                <a:ea typeface="Calibri"/>
                <a:cs typeface="Calibri"/>
              </a:rPr>
              <a:t>Explorar serviços adicionais no horário de pico (integrar ofertas como: </a:t>
            </a:r>
            <a:r>
              <a:rPr lang="pt-PT" sz="1600" dirty="0" err="1">
                <a:latin typeface="DM Sans"/>
                <a:ea typeface="Calibri"/>
                <a:cs typeface="Calibri"/>
              </a:rPr>
              <a:t>delivery</a:t>
            </a:r>
            <a:r>
              <a:rPr lang="pt-PT" sz="1600" dirty="0">
                <a:latin typeface="DM Sans"/>
                <a:ea typeface="Calibri"/>
                <a:cs typeface="Calibri"/>
              </a:rPr>
              <a:t>, viagens compartilhadas, viagens de empresas ou VIPS).</a:t>
            </a:r>
          </a:p>
          <a:p>
            <a:endParaRPr lang="pt-PT" sz="1600" dirty="0">
              <a:latin typeface="DM Sans"/>
              <a:ea typeface="Calibri"/>
              <a:cs typeface="Calibri"/>
            </a:endParaRP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5BACAC-F3A8-79FF-999A-4C42DF4A6D04}"/>
              </a:ext>
            </a:extLst>
          </p:cNvPr>
          <p:cNvSpPr txBox="1"/>
          <p:nvPr/>
        </p:nvSpPr>
        <p:spPr>
          <a:xfrm>
            <a:off x="1382751" y="1750741"/>
            <a:ext cx="11301617" cy="369332"/>
          </a:xfrm>
          <a:prstGeom prst="rect">
            <a:avLst/>
          </a:prstGeom>
          <a:noFill/>
        </p:spPr>
        <p:txBody>
          <a:bodyPr wrap="square" lIns="91440" tIns="45720" rIns="91440" bIns="45720" rtlCol="0" anchor="t">
            <a:spAutoFit/>
          </a:bodyPr>
          <a:lstStyle/>
          <a:p>
            <a:r>
              <a:rPr lang="pt-PT" dirty="0"/>
              <a:t>4) Quais são os dois dias da semana com a receita média mais elevada?</a:t>
            </a:r>
            <a:endParaRPr lang="pt-PT" i="1" dirty="0"/>
          </a:p>
        </p:txBody>
      </p:sp>
      <p:pic>
        <p:nvPicPr>
          <p:cNvPr id="4" name="Picture 3">
            <a:extLst>
              <a:ext uri="{FF2B5EF4-FFF2-40B4-BE49-F238E27FC236}">
                <a16:creationId xmlns:a16="http://schemas.microsoft.com/office/drawing/2014/main" id="{4F49A2BC-5BAD-9C1A-EF99-48238E16B01C}"/>
              </a:ext>
            </a:extLst>
          </p:cNvPr>
          <p:cNvPicPr>
            <a:picLocks noChangeAspect="1"/>
          </p:cNvPicPr>
          <p:nvPr/>
        </p:nvPicPr>
        <p:blipFill>
          <a:blip r:embed="rId2"/>
          <a:stretch>
            <a:fillRect/>
          </a:stretch>
        </p:blipFill>
        <p:spPr>
          <a:xfrm>
            <a:off x="8100874" y="2343355"/>
            <a:ext cx="6034851" cy="4220694"/>
          </a:xfrm>
          <a:prstGeom prst="rect">
            <a:avLst/>
          </a:prstGeom>
        </p:spPr>
      </p:pic>
      <p:sp>
        <p:nvSpPr>
          <p:cNvPr id="5" name="CaixaDeTexto 13">
            <a:extLst>
              <a:ext uri="{FF2B5EF4-FFF2-40B4-BE49-F238E27FC236}">
                <a16:creationId xmlns:a16="http://schemas.microsoft.com/office/drawing/2014/main" id="{65B997BE-6AFD-A8EF-4DE5-8F1112337D40}"/>
              </a:ext>
            </a:extLst>
          </p:cNvPr>
          <p:cNvSpPr txBox="1"/>
          <p:nvPr/>
        </p:nvSpPr>
        <p:spPr>
          <a:xfrm>
            <a:off x="1378282" y="2238837"/>
            <a:ext cx="6197600" cy="399814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Análise:</a:t>
            </a:r>
          </a:p>
          <a:p>
            <a:pPr algn="l"/>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Segunda é o dia mais lucrativo. Isto poderá querer dizer que as viagens efetuadas neste dia tendem a ter um valor final mais elevado, e isto, poderá ter a ver com as viagens serem de distâncias maiores, as viagens terem mais portagens ou taxas incluídas. </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O Domingo também é um dia de grande atividade mas a procura de viagens neste dia não é tão grande. </a:t>
            </a:r>
          </a:p>
          <a:p>
            <a:pPr algn="just"/>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Diferença de rendimento entre a segunda-feira e o domingo e de 10%. </a:t>
            </a: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sp>
        <p:nvSpPr>
          <p:cNvPr id="6" name="CaixaDeTexto 13">
            <a:extLst>
              <a:ext uri="{FF2B5EF4-FFF2-40B4-BE49-F238E27FC236}">
                <a16:creationId xmlns:a16="http://schemas.microsoft.com/office/drawing/2014/main" id="{A78C9766-6211-DBEC-8260-77B51BB31E06}"/>
              </a:ext>
            </a:extLst>
          </p:cNvPr>
          <p:cNvSpPr txBox="1"/>
          <p:nvPr/>
        </p:nvSpPr>
        <p:spPr>
          <a:xfrm>
            <a:off x="1378282" y="5540868"/>
            <a:ext cx="6197600" cy="276704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Recomendações:</a:t>
            </a:r>
          </a:p>
          <a:p>
            <a:pPr algn="l"/>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Deverá se concentrar nos taxistas e nas estratégias de preço dinâmico nos picos de procura.</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Deverá analisar formas de aumentar o valor médio de viagens aos domingo a fim de tentar que os dois dias de maior rendimento sejam cada vez mais semelhantes. </a:t>
            </a: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sp>
        <p:nvSpPr>
          <p:cNvPr id="3" name="Título 3">
            <a:extLst>
              <a:ext uri="{FF2B5EF4-FFF2-40B4-BE49-F238E27FC236}">
                <a16:creationId xmlns:a16="http://schemas.microsoft.com/office/drawing/2014/main" id="{85A6ED5C-B1BE-1ED3-40F4-2875D32998DC}"/>
              </a:ext>
            </a:extLst>
          </p:cNvPr>
          <p:cNvSpPr txBox="1">
            <a:spLocks/>
          </p:cNvSpPr>
          <p:nvPr/>
        </p:nvSpPr>
        <p:spPr>
          <a:xfrm>
            <a:off x="1378282" y="559824"/>
            <a:ext cx="11917680" cy="915408"/>
          </a:xfrm>
          <a:prstGeom prst="rect">
            <a:avLst/>
          </a:prstGeom>
        </p:spPr>
        <p:txBody>
          <a:bodyPr lIns="91440" tIns="45720" rIns="91440" bIns="45720" anchor="t">
            <a:normAutofit/>
          </a:bodyPr>
          <a:lstStyle>
            <a:defPPr>
              <a:defRPr lang="en-US"/>
            </a:defPPr>
            <a:lvl1pPr marL="0"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PT" sz="4800" dirty="0">
                <a:latin typeface="DM Sans Semi Bold"/>
                <a:ea typeface="Calibri Light"/>
                <a:cs typeface="Calibri Light"/>
              </a:rPr>
              <a:t>Plataformas</a:t>
            </a:r>
          </a:p>
        </p:txBody>
      </p:sp>
    </p:spTree>
    <p:extLst>
      <p:ext uri="{BB962C8B-B14F-4D97-AF65-F5344CB8AC3E}">
        <p14:creationId xmlns:p14="http://schemas.microsoft.com/office/powerpoint/2010/main" val="576984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14262EFC-8D72-B367-2575-E5F509FDD0AA}"/>
              </a:ext>
            </a:extLst>
          </p:cNvPr>
          <p:cNvSpPr txBox="1"/>
          <p:nvPr/>
        </p:nvSpPr>
        <p:spPr>
          <a:xfrm>
            <a:off x="1382751" y="1750741"/>
            <a:ext cx="11301617" cy="369332"/>
          </a:xfrm>
          <a:prstGeom prst="rect">
            <a:avLst/>
          </a:prstGeom>
          <a:noFill/>
        </p:spPr>
        <p:txBody>
          <a:bodyPr wrap="square" lIns="91440" tIns="45720" rIns="91440" bIns="45720" rtlCol="0" anchor="t">
            <a:spAutoFit/>
          </a:bodyPr>
          <a:lstStyle/>
          <a:p>
            <a:r>
              <a:rPr lang="pt-PT" dirty="0"/>
              <a:t>4) Quais são os dois dias da semana com a receita média mais elevada mensalmente?</a:t>
            </a:r>
            <a:endParaRPr lang="pt-PT" i="1" dirty="0"/>
          </a:p>
        </p:txBody>
      </p:sp>
      <p:sp>
        <p:nvSpPr>
          <p:cNvPr id="3" name="Título 3">
            <a:extLst>
              <a:ext uri="{FF2B5EF4-FFF2-40B4-BE49-F238E27FC236}">
                <a16:creationId xmlns:a16="http://schemas.microsoft.com/office/drawing/2014/main" id="{480E48E1-DF70-0C54-BDAA-938142CDC3F5}"/>
              </a:ext>
            </a:extLst>
          </p:cNvPr>
          <p:cNvSpPr txBox="1">
            <a:spLocks/>
          </p:cNvSpPr>
          <p:nvPr/>
        </p:nvSpPr>
        <p:spPr>
          <a:xfrm>
            <a:off x="1378282" y="534424"/>
            <a:ext cx="11917680" cy="915408"/>
          </a:xfrm>
          <a:prstGeom prst="rect">
            <a:avLst/>
          </a:prstGeom>
        </p:spPr>
        <p:txBody>
          <a:bodyPr lIns="91440" tIns="45720" rIns="91440" bIns="45720" anchor="t">
            <a:normAutofit/>
          </a:bodyPr>
          <a:lstStyle>
            <a:defPPr>
              <a:defRPr lang="en-US"/>
            </a:defPPr>
            <a:lvl1pPr marL="0"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PT" sz="4800" dirty="0">
                <a:latin typeface="DM Sans Semi Bold"/>
                <a:ea typeface="Calibri Light"/>
                <a:cs typeface="Calibri Light"/>
              </a:rPr>
              <a:t>Plataformas</a:t>
            </a:r>
          </a:p>
        </p:txBody>
      </p:sp>
      <p:sp>
        <p:nvSpPr>
          <p:cNvPr id="4" name="CaixaDeTexto 13">
            <a:extLst>
              <a:ext uri="{FF2B5EF4-FFF2-40B4-BE49-F238E27FC236}">
                <a16:creationId xmlns:a16="http://schemas.microsoft.com/office/drawing/2014/main" id="{A99B1982-DE8C-3277-077F-41FE6582FC76}"/>
              </a:ext>
            </a:extLst>
          </p:cNvPr>
          <p:cNvSpPr txBox="1"/>
          <p:nvPr/>
        </p:nvSpPr>
        <p:spPr>
          <a:xfrm>
            <a:off x="8432800" y="6245089"/>
            <a:ext cx="6197600" cy="12645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Mês de Maio:</a:t>
            </a:r>
          </a:p>
          <a:p>
            <a:endParaRPr lang="pt-PT" sz="1600" dirty="0">
              <a:latin typeface="DM Sans"/>
              <a:ea typeface="Calibri"/>
              <a:cs typeface="Calibri"/>
            </a:endParaRPr>
          </a:p>
          <a:p>
            <a:pPr>
              <a:lnSpc>
                <a:spcPct val="150000"/>
              </a:lnSpc>
            </a:pPr>
            <a:endParaRPr lang="pt-PT" sz="1600" dirty="0">
              <a:latin typeface="DM Sans"/>
              <a:ea typeface="+mn-lt"/>
              <a:cs typeface="+mn-lt"/>
            </a:endParaRPr>
          </a:p>
          <a:p>
            <a:pPr>
              <a:lnSpc>
                <a:spcPct val="150000"/>
              </a:lnSpc>
            </a:pPr>
            <a:endParaRPr lang="pt-PT" sz="1500" dirty="0">
              <a:highlight>
                <a:srgbClr val="FFFF00"/>
              </a:highlight>
              <a:ea typeface="Calibri"/>
              <a:cs typeface="Calibri"/>
            </a:endParaRPr>
          </a:p>
        </p:txBody>
      </p:sp>
      <p:sp>
        <p:nvSpPr>
          <p:cNvPr id="6" name="CaixaDeTexto 13">
            <a:extLst>
              <a:ext uri="{FF2B5EF4-FFF2-40B4-BE49-F238E27FC236}">
                <a16:creationId xmlns:a16="http://schemas.microsoft.com/office/drawing/2014/main" id="{CD00121F-64AE-F64E-493B-8CFAF4F4BCB7}"/>
              </a:ext>
            </a:extLst>
          </p:cNvPr>
          <p:cNvSpPr txBox="1"/>
          <p:nvPr/>
        </p:nvSpPr>
        <p:spPr>
          <a:xfrm>
            <a:off x="1002329" y="6245089"/>
            <a:ext cx="6197600" cy="128971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Mês de Junho</a:t>
            </a:r>
          </a:p>
          <a:p>
            <a:endParaRPr lang="pt-PT" sz="1600" dirty="0">
              <a:latin typeface="DM Sans"/>
              <a:ea typeface="Calibri"/>
              <a:cs typeface="Calibri"/>
            </a:endParaRP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pic>
        <p:nvPicPr>
          <p:cNvPr id="5" name="Picture 4">
            <a:extLst>
              <a:ext uri="{FF2B5EF4-FFF2-40B4-BE49-F238E27FC236}">
                <a16:creationId xmlns:a16="http://schemas.microsoft.com/office/drawing/2014/main" id="{62DCA659-0E29-0F6E-BEF8-1CF26ABADAD2}"/>
              </a:ext>
            </a:extLst>
          </p:cNvPr>
          <p:cNvPicPr>
            <a:picLocks noChangeAspect="1"/>
          </p:cNvPicPr>
          <p:nvPr/>
        </p:nvPicPr>
        <p:blipFill>
          <a:blip r:embed="rId3"/>
          <a:stretch>
            <a:fillRect/>
          </a:stretch>
        </p:blipFill>
        <p:spPr>
          <a:xfrm>
            <a:off x="1002329" y="2529358"/>
            <a:ext cx="5476516" cy="3580170"/>
          </a:xfrm>
          <a:prstGeom prst="rect">
            <a:avLst/>
          </a:prstGeom>
        </p:spPr>
      </p:pic>
      <p:pic>
        <p:nvPicPr>
          <p:cNvPr id="10" name="Picture 9">
            <a:extLst>
              <a:ext uri="{FF2B5EF4-FFF2-40B4-BE49-F238E27FC236}">
                <a16:creationId xmlns:a16="http://schemas.microsoft.com/office/drawing/2014/main" id="{A54244F6-A033-EBBB-4F24-C7ADF3F10A13}"/>
              </a:ext>
            </a:extLst>
          </p:cNvPr>
          <p:cNvPicPr>
            <a:picLocks noChangeAspect="1"/>
          </p:cNvPicPr>
          <p:nvPr/>
        </p:nvPicPr>
        <p:blipFill>
          <a:blip r:embed="rId4"/>
          <a:stretch>
            <a:fillRect/>
          </a:stretch>
        </p:blipFill>
        <p:spPr>
          <a:xfrm>
            <a:off x="8521206" y="2534119"/>
            <a:ext cx="5243934" cy="35754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08171E-60BA-602D-FB79-A1F0D8AAF3B8}"/>
              </a:ext>
            </a:extLst>
          </p:cNvPr>
          <p:cNvSpPr txBox="1"/>
          <p:nvPr/>
        </p:nvSpPr>
        <p:spPr>
          <a:xfrm>
            <a:off x="1382751" y="1750741"/>
            <a:ext cx="11301617" cy="369332"/>
          </a:xfrm>
          <a:prstGeom prst="rect">
            <a:avLst/>
          </a:prstGeom>
          <a:noFill/>
        </p:spPr>
        <p:txBody>
          <a:bodyPr wrap="square" lIns="91440" tIns="45720" rIns="91440" bIns="45720" rtlCol="0" anchor="t">
            <a:spAutoFit/>
          </a:bodyPr>
          <a:lstStyle/>
          <a:p>
            <a:r>
              <a:rPr lang="pt-PT" dirty="0"/>
              <a:t>4) Quais são os dois dias da semana com a receita média mais elevada mensalmente?</a:t>
            </a:r>
            <a:endParaRPr lang="pt-PT" i="1" dirty="0"/>
          </a:p>
        </p:txBody>
      </p:sp>
      <p:sp>
        <p:nvSpPr>
          <p:cNvPr id="3" name="CaixaDeTexto 13">
            <a:extLst>
              <a:ext uri="{FF2B5EF4-FFF2-40B4-BE49-F238E27FC236}">
                <a16:creationId xmlns:a16="http://schemas.microsoft.com/office/drawing/2014/main" id="{0F1ACC33-90BA-BE67-26A1-782D85095588}"/>
              </a:ext>
            </a:extLst>
          </p:cNvPr>
          <p:cNvSpPr txBox="1"/>
          <p:nvPr/>
        </p:nvSpPr>
        <p:spPr>
          <a:xfrm>
            <a:off x="1378282" y="2259907"/>
            <a:ext cx="6197600" cy="50167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Análise:</a:t>
            </a:r>
          </a:p>
          <a:p>
            <a:pPr algn="l"/>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Comparação do Domingo: Em </a:t>
            </a:r>
            <a:r>
              <a:rPr lang="pt-PT" sz="1600" b="1" dirty="0">
                <a:latin typeface="DM Sans"/>
                <a:ea typeface="Calibri"/>
                <a:cs typeface="Calibri"/>
              </a:rPr>
              <a:t>Julho</a:t>
            </a:r>
            <a:r>
              <a:rPr lang="pt-PT" sz="1600" dirty="0">
                <a:latin typeface="DM Sans"/>
                <a:ea typeface="Calibri"/>
                <a:cs typeface="Calibri"/>
              </a:rPr>
              <a:t> revelou-se ser um dia com um rendimento bastante alto, sendo que no mês de </a:t>
            </a:r>
            <a:r>
              <a:rPr lang="pt-PT" sz="1600" b="1" dirty="0">
                <a:latin typeface="DM Sans"/>
                <a:ea typeface="Calibri"/>
                <a:cs typeface="Calibri"/>
              </a:rPr>
              <a:t>Maio</a:t>
            </a:r>
            <a:r>
              <a:rPr lang="pt-PT" sz="1600" dirty="0">
                <a:latin typeface="DM Sans"/>
                <a:ea typeface="Calibri"/>
                <a:cs typeface="Calibri"/>
              </a:rPr>
              <a:t> o rendimento para esse dia foi considerado moderado/baixo. </a:t>
            </a:r>
          </a:p>
          <a:p>
            <a:pPr marL="285750" indent="-285750" algn="just">
              <a:buFont typeface="Wingdings" panose="05000000000000000000" pitchFamily="2" charset="2"/>
              <a:buChar char="Ø"/>
            </a:pPr>
            <a:br>
              <a:rPr lang="pt-PT" sz="1600" dirty="0">
                <a:latin typeface="DM Sans"/>
                <a:ea typeface="Calibri"/>
                <a:cs typeface="Calibri"/>
              </a:rPr>
            </a:br>
            <a:r>
              <a:rPr lang="pt-PT" sz="1600" dirty="0">
                <a:latin typeface="DM Sans"/>
                <a:ea typeface="Calibri"/>
                <a:cs typeface="Calibri"/>
              </a:rPr>
              <a:t>Podemos assim afirmar que o Domingo aumentou consideravelmente de um mês para o outro. </a:t>
            </a:r>
          </a:p>
          <a:p>
            <a:pPr marL="285750" indent="-285750" algn="just">
              <a:buFont typeface="Wingdings" panose="05000000000000000000" pitchFamily="2" charset="2"/>
              <a:buChar char="Ø"/>
            </a:pPr>
            <a:r>
              <a:rPr lang="pt-PT" sz="1600" dirty="0">
                <a:latin typeface="DM Sans"/>
                <a:ea typeface="Calibri"/>
                <a:cs typeface="Calibri"/>
              </a:rPr>
              <a:t>No mês de Maio o dia mais lucrativo era sem dúvidas a segunda-feira</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Podemos afirmar que no mês de Junho os dias de Domingo e sexta-feira mostram um desempenho muito forte e quase idêntico. </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pitchFamily="2" charset="0"/>
              </a:rPr>
              <a:t>A análise aponta para uma grande variação no rendimento médio da viagem entre os meses e os dias da semana. O crescimento no valor médio da viagem ao Domingo entre Maio e Junho é o destaque mais claro.</a:t>
            </a:r>
            <a:endParaRPr lang="pt-PT" sz="1600" dirty="0">
              <a:latin typeface="DM Sans" pitchFamily="2" charset="0"/>
              <a:ea typeface="+mn-lt"/>
              <a:cs typeface="+mn-lt"/>
            </a:endParaRPr>
          </a:p>
        </p:txBody>
      </p:sp>
      <p:sp>
        <p:nvSpPr>
          <p:cNvPr id="4" name="CaixaDeTexto 13">
            <a:extLst>
              <a:ext uri="{FF2B5EF4-FFF2-40B4-BE49-F238E27FC236}">
                <a16:creationId xmlns:a16="http://schemas.microsoft.com/office/drawing/2014/main" id="{5B81B0B3-3054-84C3-C210-FB617F49889A}"/>
              </a:ext>
            </a:extLst>
          </p:cNvPr>
          <p:cNvSpPr txBox="1"/>
          <p:nvPr/>
        </p:nvSpPr>
        <p:spPr>
          <a:xfrm>
            <a:off x="8008612" y="2361948"/>
            <a:ext cx="6197600" cy="35057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pt-PT" sz="1600" b="1" dirty="0">
                <a:latin typeface="DM Sans"/>
                <a:ea typeface="Calibri"/>
                <a:cs typeface="Calibri"/>
              </a:rPr>
              <a:t>Recomendações:</a:t>
            </a:r>
          </a:p>
          <a:p>
            <a:pPr algn="just"/>
            <a:endParaRPr lang="pt-PT" sz="1600" b="1"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Segmentação de incentivos: Criar incentivos ou bónus para os taxistas nos dias de maior rendimento.</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Sazonalidade e previsão : A empresa deve prevês a tendência e garantir uma forte disponibilidade dos taxistas nos dias de maior rendimento.</a:t>
            </a:r>
          </a:p>
          <a:p>
            <a:pPr marL="285750" indent="-285750" algn="just">
              <a:buFont typeface="Wingdings" panose="05000000000000000000" pitchFamily="2" charset="2"/>
              <a:buChar char="Ø"/>
            </a:pPr>
            <a:endParaRPr lang="pt-PT" sz="1600" dirty="0">
              <a:latin typeface="DM Sans"/>
              <a:ea typeface="Calibri"/>
              <a:cs typeface="Calibri"/>
            </a:endParaRPr>
          </a:p>
          <a:p>
            <a:pPr marL="285750" indent="-285750" algn="just">
              <a:buFont typeface="Wingdings" panose="05000000000000000000" pitchFamily="2" charset="2"/>
              <a:buChar char="Ø"/>
            </a:pPr>
            <a:r>
              <a:rPr lang="pt-PT" sz="1600" dirty="0">
                <a:latin typeface="DM Sans"/>
                <a:ea typeface="Calibri"/>
                <a:cs typeface="Calibri"/>
              </a:rPr>
              <a:t>Parcerias Estratégicas: Fechar parcerias com empresas ou serviços que geram viagens em horários de menor pico.</a:t>
            </a:r>
          </a:p>
          <a:p>
            <a:pPr>
              <a:lnSpc>
                <a:spcPct val="150000"/>
              </a:lnSpc>
            </a:pPr>
            <a:endParaRPr lang="pt-PT" sz="1600" dirty="0">
              <a:latin typeface="DM Sans"/>
              <a:ea typeface="+mn-lt"/>
              <a:cs typeface="+mn-lt"/>
            </a:endParaRPr>
          </a:p>
          <a:p>
            <a:pPr>
              <a:lnSpc>
                <a:spcPct val="150000"/>
              </a:lnSpc>
            </a:pPr>
            <a:endParaRPr lang="pt-PT" sz="1600" dirty="0">
              <a:highlight>
                <a:srgbClr val="FFFF00"/>
              </a:highlight>
              <a:latin typeface="DM Sans"/>
              <a:ea typeface="+mn-lt"/>
              <a:cs typeface="+mn-lt"/>
            </a:endParaRPr>
          </a:p>
        </p:txBody>
      </p:sp>
      <p:sp>
        <p:nvSpPr>
          <p:cNvPr id="5" name="Título 3">
            <a:extLst>
              <a:ext uri="{FF2B5EF4-FFF2-40B4-BE49-F238E27FC236}">
                <a16:creationId xmlns:a16="http://schemas.microsoft.com/office/drawing/2014/main" id="{FFEBBFF6-6E7C-8652-BCAE-FAC7A6D5C43D}"/>
              </a:ext>
            </a:extLst>
          </p:cNvPr>
          <p:cNvSpPr txBox="1">
            <a:spLocks/>
          </p:cNvSpPr>
          <p:nvPr/>
        </p:nvSpPr>
        <p:spPr>
          <a:xfrm>
            <a:off x="1378282" y="534424"/>
            <a:ext cx="11917680" cy="915408"/>
          </a:xfrm>
          <a:prstGeom prst="rect">
            <a:avLst/>
          </a:prstGeom>
        </p:spPr>
        <p:txBody>
          <a:bodyPr lIns="91440" tIns="45720" rIns="91440" bIns="45720" anchor="t">
            <a:normAutofit/>
          </a:bodyPr>
          <a:lstStyle>
            <a:defPPr>
              <a:defRPr lang="en-US"/>
            </a:defPPr>
            <a:lvl1pPr marL="0"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PT" sz="4800" dirty="0">
                <a:latin typeface="DM Sans Semi Bold"/>
                <a:ea typeface="Calibri Light"/>
                <a:cs typeface="Calibri Light"/>
              </a:rPr>
              <a:t>Plataformas</a:t>
            </a:r>
          </a:p>
        </p:txBody>
      </p:sp>
    </p:spTree>
    <p:extLst>
      <p:ext uri="{BB962C8B-B14F-4D97-AF65-F5344CB8AC3E}">
        <p14:creationId xmlns:p14="http://schemas.microsoft.com/office/powerpoint/2010/main" val="2638076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8E106-6BE2-1B72-93E8-8607322F4B62}"/>
            </a:ext>
          </a:extLst>
        </p:cNvPr>
        <p:cNvGrpSpPr/>
        <p:nvPr/>
      </p:nvGrpSpPr>
      <p:grpSpPr>
        <a:xfrm>
          <a:off x="0" y="0"/>
          <a:ext cx="0" cy="0"/>
          <a:chOff x="0" y="0"/>
          <a:chExt cx="0" cy="0"/>
        </a:xfrm>
      </p:grpSpPr>
      <p:sp>
        <p:nvSpPr>
          <p:cNvPr id="5" name="TextBox 14">
            <a:extLst>
              <a:ext uri="{FF2B5EF4-FFF2-40B4-BE49-F238E27FC236}">
                <a16:creationId xmlns:a16="http://schemas.microsoft.com/office/drawing/2014/main" id="{937AADB0-6320-44E8-4086-0E699174E18E}"/>
              </a:ext>
            </a:extLst>
          </p:cNvPr>
          <p:cNvSpPr txBox="1"/>
          <p:nvPr/>
        </p:nvSpPr>
        <p:spPr>
          <a:xfrm>
            <a:off x="1402576" y="1691888"/>
            <a:ext cx="12676934" cy="338554"/>
          </a:xfrm>
          <a:prstGeom prst="rect">
            <a:avLst/>
          </a:prstGeom>
          <a:noFill/>
        </p:spPr>
        <p:txBody>
          <a:bodyPr wrap="square" lIns="91440" tIns="45720" rIns="91440" bIns="45720" rtlCol="0" anchor="t">
            <a:spAutoFit/>
          </a:bodyPr>
          <a:lstStyle/>
          <a:p>
            <a:r>
              <a:rPr lang="pt-PT" sz="1600">
                <a:latin typeface="DM Sans"/>
              </a:rPr>
              <a:t>5) </a:t>
            </a:r>
            <a:r>
              <a:rPr lang="pt-PT" sz="1600">
                <a:ea typeface="+mn-lt"/>
                <a:cs typeface="+mn-lt"/>
              </a:rPr>
              <a:t>Qual é a gorjeta média por distância percorrida e por tipo de veículo?</a:t>
            </a:r>
            <a:endParaRPr lang="pt-PT" sz="1600" i="1">
              <a:latin typeface="DM Sans"/>
              <a:ea typeface="+mn-lt"/>
              <a:cs typeface="+mn-lt"/>
            </a:endParaRPr>
          </a:p>
        </p:txBody>
      </p:sp>
      <p:sp>
        <p:nvSpPr>
          <p:cNvPr id="7" name="Título 3">
            <a:extLst>
              <a:ext uri="{FF2B5EF4-FFF2-40B4-BE49-F238E27FC236}">
                <a16:creationId xmlns:a16="http://schemas.microsoft.com/office/drawing/2014/main" id="{6E4419B5-8250-EA70-7E84-A1471B39F24B}"/>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Taxistas</a:t>
            </a:r>
            <a:endParaRPr lang="pt-PT"/>
          </a:p>
        </p:txBody>
      </p:sp>
      <p:pic>
        <p:nvPicPr>
          <p:cNvPr id="4" name="Imagem 3" descr="Uma imagem com texto, captura de ecrã, Tipo de letra, círculo&#10;&#10;Os conteúdos gerados por IA poderão estar incorretos.">
            <a:extLst>
              <a:ext uri="{FF2B5EF4-FFF2-40B4-BE49-F238E27FC236}">
                <a16:creationId xmlns:a16="http://schemas.microsoft.com/office/drawing/2014/main" id="{585F3B70-666E-DE5C-6399-D8442145998A}"/>
              </a:ext>
            </a:extLst>
          </p:cNvPr>
          <p:cNvPicPr>
            <a:picLocks noChangeAspect="1"/>
          </p:cNvPicPr>
          <p:nvPr/>
        </p:nvPicPr>
        <p:blipFill>
          <a:blip r:embed="rId3"/>
          <a:stretch>
            <a:fillRect/>
          </a:stretch>
        </p:blipFill>
        <p:spPr>
          <a:xfrm>
            <a:off x="1614705" y="2685574"/>
            <a:ext cx="5438759" cy="38269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Imagem 8" descr="Uma imagem com texto, captura de ecrã, Tipo de letra, diagrama&#10;&#10;Os conteúdos gerados por IA poderão estar incorretos.">
            <a:extLst>
              <a:ext uri="{FF2B5EF4-FFF2-40B4-BE49-F238E27FC236}">
                <a16:creationId xmlns:a16="http://schemas.microsoft.com/office/drawing/2014/main" id="{51BEA880-0151-E8D3-1EBA-2A9807EA7C74}"/>
              </a:ext>
            </a:extLst>
          </p:cNvPr>
          <p:cNvPicPr>
            <a:picLocks noChangeAspect="1"/>
          </p:cNvPicPr>
          <p:nvPr/>
        </p:nvPicPr>
        <p:blipFill>
          <a:blip r:embed="rId4"/>
          <a:stretch>
            <a:fillRect/>
          </a:stretch>
        </p:blipFill>
        <p:spPr>
          <a:xfrm>
            <a:off x="7736186" y="2691398"/>
            <a:ext cx="5295875" cy="38232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00224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CA67-10C7-3B3D-8A18-9CF259A5AB4E}"/>
            </a:ext>
          </a:extLst>
        </p:cNvPr>
        <p:cNvGrpSpPr/>
        <p:nvPr/>
      </p:nvGrpSpPr>
      <p:grpSpPr>
        <a:xfrm>
          <a:off x="0" y="0"/>
          <a:ext cx="0" cy="0"/>
          <a:chOff x="0" y="0"/>
          <a:chExt cx="0" cy="0"/>
        </a:xfrm>
      </p:grpSpPr>
      <p:sp>
        <p:nvSpPr>
          <p:cNvPr id="3" name="CaixaDeTexto 13">
            <a:extLst>
              <a:ext uri="{FF2B5EF4-FFF2-40B4-BE49-F238E27FC236}">
                <a16:creationId xmlns:a16="http://schemas.microsoft.com/office/drawing/2014/main" id="{AA650EAB-68D8-A01C-438C-163F7129C6EA}"/>
              </a:ext>
            </a:extLst>
          </p:cNvPr>
          <p:cNvSpPr txBox="1"/>
          <p:nvPr/>
        </p:nvSpPr>
        <p:spPr>
          <a:xfrm>
            <a:off x="1399690" y="2457525"/>
            <a:ext cx="6197600" cy="51061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pitchFamily="2" charset="0"/>
                <a:ea typeface="Calibri"/>
                <a:cs typeface="Calibri"/>
              </a:rPr>
              <a:t>Análise:</a:t>
            </a:r>
          </a:p>
          <a:p>
            <a:pPr algn="just"/>
            <a:endParaRPr lang="pt-PT" sz="1600" dirty="0">
              <a:latin typeface="DM Sans" pitchFamily="2" charset="0"/>
              <a:ea typeface="Calibri"/>
              <a:cs typeface="Calibri"/>
            </a:endParaRPr>
          </a:p>
          <a:p>
            <a:pPr marL="285750" indent="-285750" algn="just">
              <a:buFont typeface="Wingdings"/>
              <a:buChar char="Ø"/>
            </a:pPr>
            <a:r>
              <a:rPr lang="pt-PT" sz="1600" dirty="0">
                <a:latin typeface="DM Sans" pitchFamily="2" charset="0"/>
                <a:ea typeface="+mn-lt"/>
                <a:cs typeface="+mn-lt"/>
              </a:rPr>
              <a:t>A gorjeta média por viagem em jun'20 fixou-se em $1,76 (+23% </a:t>
            </a:r>
            <a:r>
              <a:rPr lang="pt-PT" sz="1600" dirty="0" err="1">
                <a:latin typeface="DM Sans" pitchFamily="2" charset="0"/>
                <a:ea typeface="+mn-lt"/>
                <a:cs typeface="+mn-lt"/>
              </a:rPr>
              <a:t>vs</a:t>
            </a:r>
            <a:r>
              <a:rPr lang="pt-PT" sz="1600" dirty="0">
                <a:latin typeface="DM Sans" pitchFamily="2" charset="0"/>
                <a:ea typeface="+mn-lt"/>
                <a:cs typeface="+mn-lt"/>
              </a:rPr>
              <a:t> maio’20).</a:t>
            </a:r>
            <a:endParaRPr lang="en-US" sz="1600" dirty="0">
              <a:latin typeface="DM Sans" pitchFamily="2" charset="0"/>
              <a:ea typeface="+mn-lt"/>
              <a:cs typeface="+mn-lt"/>
            </a:endParaRPr>
          </a:p>
          <a:p>
            <a:pPr marL="285750" indent="-285750" algn="just">
              <a:buFont typeface="Wingdings"/>
              <a:buChar char="Ø"/>
            </a:pPr>
            <a:endParaRPr lang="pt-PT" sz="1600" dirty="0">
              <a:latin typeface="DM Sans" pitchFamily="2" charset="0"/>
              <a:ea typeface="+mn-lt"/>
              <a:cs typeface="+mn-lt"/>
            </a:endParaRPr>
          </a:p>
          <a:p>
            <a:pPr marL="285750" indent="-285750" algn="just">
              <a:buFont typeface="Wingdings"/>
              <a:buChar char="Ø"/>
            </a:pPr>
            <a:r>
              <a:rPr lang="pt-PT" sz="1600" dirty="0">
                <a:latin typeface="DM Sans" pitchFamily="2" charset="0"/>
                <a:ea typeface="+mn-lt"/>
                <a:cs typeface="+mn-lt"/>
              </a:rPr>
              <a:t>A gorjeta média por milha registou uma evolução positiva em jul'20, com incremento de +33%, para $0,52 face a maio’20.</a:t>
            </a:r>
          </a:p>
          <a:p>
            <a:pPr marL="285750" indent="-285750" algn="just">
              <a:buFont typeface="Wingdings"/>
              <a:buChar char="Ø"/>
            </a:pPr>
            <a:endParaRPr lang="pt-PT" sz="1600" dirty="0">
              <a:latin typeface="DM Sans" pitchFamily="2" charset="0"/>
              <a:ea typeface="+mn-lt"/>
              <a:cs typeface="+mn-lt"/>
            </a:endParaRPr>
          </a:p>
          <a:p>
            <a:pPr marL="285750" indent="-285750" algn="just">
              <a:buFont typeface="Wingdings"/>
              <a:buChar char="Ø"/>
            </a:pPr>
            <a:r>
              <a:rPr lang="pt-PT" sz="1600" dirty="0">
                <a:latin typeface="DM Sans" pitchFamily="2" charset="0"/>
                <a:ea typeface="+mn-lt"/>
                <a:cs typeface="+mn-lt"/>
              </a:rPr>
              <a:t>Os clientes tendencialmente pagam um valor médio de gorjetas por viagem mais alto nas horas de ponta (17-18h) e durante o período da noite (20-21h). </a:t>
            </a:r>
          </a:p>
          <a:p>
            <a:pPr marL="285750" indent="-285750" algn="just">
              <a:buFont typeface="Wingdings"/>
              <a:buChar char="Ø"/>
            </a:pPr>
            <a:endParaRPr lang="pt-PT" sz="1600" dirty="0">
              <a:latin typeface="DM Sans" pitchFamily="2" charset="0"/>
              <a:ea typeface="Calibri"/>
              <a:cs typeface="Calibri"/>
            </a:endParaRPr>
          </a:p>
          <a:p>
            <a:pPr marL="285750" indent="-285750" algn="just">
              <a:buFont typeface="Wingdings"/>
              <a:buChar char="Ø"/>
            </a:pPr>
            <a:r>
              <a:rPr lang="pt-PT" sz="1600" dirty="0">
                <a:latin typeface="DM Sans" pitchFamily="2" charset="0"/>
                <a:ea typeface="+mn-lt"/>
                <a:cs typeface="+mn-lt"/>
              </a:rPr>
              <a:t>Os veículos com maior rentabilidade em termos de gorjetas são os veículos médios com capacidade para 6 passageiros, seguido dos veículos ligeiros (4 passageiros). </a:t>
            </a:r>
            <a:endParaRPr lang="en-US" sz="1600" dirty="0">
              <a:latin typeface="DM Sans" pitchFamily="2" charset="0"/>
              <a:ea typeface="+mn-lt"/>
              <a:cs typeface="+mn-lt"/>
            </a:endParaRPr>
          </a:p>
          <a:p>
            <a:pPr marL="285750" indent="-285750" algn="just">
              <a:lnSpc>
                <a:spcPct val="150000"/>
              </a:lnSpc>
              <a:buFont typeface="Wingdings"/>
              <a:buChar char="Ø"/>
            </a:pPr>
            <a:endParaRPr lang="pt-PT" sz="1600" b="1" dirty="0">
              <a:latin typeface="DM Sans"/>
              <a:ea typeface="Calibri"/>
              <a:cs typeface="Calibri"/>
            </a:endParaRPr>
          </a:p>
          <a:p>
            <a:pPr algn="just">
              <a:lnSpc>
                <a:spcPct val="150000"/>
              </a:lnSpc>
            </a:pPr>
            <a:endParaRPr lang="pt-PT" sz="1600" dirty="0">
              <a:latin typeface="DM Sans"/>
              <a:ea typeface="Calibri"/>
              <a:cs typeface="Calibri"/>
            </a:endParaRPr>
          </a:p>
          <a:p>
            <a:pPr algn="just">
              <a:lnSpc>
                <a:spcPct val="150000"/>
              </a:lnSpc>
            </a:pPr>
            <a:endParaRPr lang="pt-PT" sz="1600" dirty="0">
              <a:highlight>
                <a:srgbClr val="FFFF00"/>
              </a:highlight>
              <a:latin typeface="DM Sans"/>
              <a:ea typeface="+mn-lt"/>
              <a:cs typeface="+mn-lt"/>
            </a:endParaRPr>
          </a:p>
        </p:txBody>
      </p:sp>
      <p:sp>
        <p:nvSpPr>
          <p:cNvPr id="5" name="TextBox 14">
            <a:extLst>
              <a:ext uri="{FF2B5EF4-FFF2-40B4-BE49-F238E27FC236}">
                <a16:creationId xmlns:a16="http://schemas.microsoft.com/office/drawing/2014/main" id="{E21365D9-5656-2F8F-EDDE-60FBF752B630}"/>
              </a:ext>
            </a:extLst>
          </p:cNvPr>
          <p:cNvSpPr txBox="1"/>
          <p:nvPr/>
        </p:nvSpPr>
        <p:spPr>
          <a:xfrm>
            <a:off x="1402576" y="1691888"/>
            <a:ext cx="12676934" cy="338554"/>
          </a:xfrm>
          <a:prstGeom prst="rect">
            <a:avLst/>
          </a:prstGeom>
          <a:noFill/>
        </p:spPr>
        <p:txBody>
          <a:bodyPr wrap="square" lIns="91440" tIns="45720" rIns="91440" bIns="45720" rtlCol="0" anchor="t">
            <a:spAutoFit/>
          </a:bodyPr>
          <a:lstStyle/>
          <a:p>
            <a:r>
              <a:rPr lang="pt-PT" sz="1600" dirty="0">
                <a:latin typeface="DM Sans"/>
              </a:rPr>
              <a:t>5) </a:t>
            </a:r>
            <a:r>
              <a:rPr lang="pt-PT" sz="1600" dirty="0">
                <a:ea typeface="+mn-lt"/>
                <a:cs typeface="+mn-lt"/>
              </a:rPr>
              <a:t>Qual é a gorjeta média por distância percorrida e por tipo de veículo?</a:t>
            </a:r>
            <a:endParaRPr lang="pt-PT" sz="1600" i="1" dirty="0">
              <a:latin typeface="DM Sans"/>
              <a:ea typeface="+mn-lt"/>
              <a:cs typeface="+mn-lt"/>
            </a:endParaRPr>
          </a:p>
        </p:txBody>
      </p:sp>
      <p:sp>
        <p:nvSpPr>
          <p:cNvPr id="7" name="Título 3">
            <a:extLst>
              <a:ext uri="{FF2B5EF4-FFF2-40B4-BE49-F238E27FC236}">
                <a16:creationId xmlns:a16="http://schemas.microsoft.com/office/drawing/2014/main" id="{24EEB9BF-5F0B-B254-42EF-AF4C538A2706}"/>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Taxistas</a:t>
            </a:r>
            <a:endParaRPr lang="pt-PT"/>
          </a:p>
        </p:txBody>
      </p:sp>
      <p:sp>
        <p:nvSpPr>
          <p:cNvPr id="8" name="CaixaDeTexto 13">
            <a:extLst>
              <a:ext uri="{FF2B5EF4-FFF2-40B4-BE49-F238E27FC236}">
                <a16:creationId xmlns:a16="http://schemas.microsoft.com/office/drawing/2014/main" id="{FE7943D3-41DC-35B9-B626-077868F3CBBA}"/>
              </a:ext>
            </a:extLst>
          </p:cNvPr>
          <p:cNvSpPr txBox="1"/>
          <p:nvPr/>
        </p:nvSpPr>
        <p:spPr>
          <a:xfrm>
            <a:off x="7744161" y="2457524"/>
            <a:ext cx="6195358" cy="415203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pitchFamily="2" charset="0"/>
                <a:ea typeface="Calibri"/>
                <a:cs typeface="Calibri"/>
              </a:rPr>
              <a:t>Recomendações:</a:t>
            </a:r>
          </a:p>
          <a:p>
            <a:pPr algn="just"/>
            <a:endParaRPr lang="pt-PT" sz="1600" dirty="0">
              <a:latin typeface="DM Sans" pitchFamily="2" charset="0"/>
              <a:ea typeface="Calibri"/>
              <a:cs typeface="Calibri"/>
            </a:endParaRPr>
          </a:p>
          <a:p>
            <a:pPr marL="342900" indent="-342900" algn="just">
              <a:buFont typeface="Wingdings"/>
              <a:buChar char="Ø"/>
            </a:pPr>
            <a:r>
              <a:rPr lang="pt-PT" sz="1600" dirty="0">
                <a:latin typeface="DM Sans" pitchFamily="2" charset="0"/>
                <a:ea typeface="Calibri"/>
                <a:cs typeface="Calibri"/>
              </a:rPr>
              <a:t>Reforçar presença nas zonas </a:t>
            </a:r>
            <a:r>
              <a:rPr lang="pt-PT" sz="1600" dirty="0" err="1">
                <a:latin typeface="DM Sans" pitchFamily="2" charset="0"/>
                <a:ea typeface="Calibri"/>
                <a:cs typeface="Calibri"/>
              </a:rPr>
              <a:t>pickups</a:t>
            </a:r>
            <a:r>
              <a:rPr lang="pt-PT" sz="1600" dirty="0">
                <a:latin typeface="DM Sans" pitchFamily="2" charset="0"/>
                <a:ea typeface="Calibri"/>
                <a:cs typeface="Calibri"/>
              </a:rPr>
              <a:t> nas horas de ponta e à noite até 22h.</a:t>
            </a:r>
            <a:endParaRPr lang="en-US" sz="1600" dirty="0">
              <a:latin typeface="DM Sans" pitchFamily="2" charset="0"/>
              <a:ea typeface="Calibri"/>
              <a:cs typeface="Calibri"/>
            </a:endParaRPr>
          </a:p>
          <a:p>
            <a:pPr marL="342900" indent="-342900" algn="just">
              <a:buFont typeface="Wingdings"/>
              <a:buChar char="Ø"/>
            </a:pPr>
            <a:endParaRPr lang="pt-PT" sz="1600" dirty="0">
              <a:latin typeface="DM Sans" pitchFamily="2" charset="0"/>
              <a:ea typeface="Calibri"/>
              <a:cs typeface="Calibri"/>
            </a:endParaRPr>
          </a:p>
          <a:p>
            <a:pPr marL="342900" indent="-342900" algn="just">
              <a:buFont typeface="Wingdings"/>
              <a:buChar char="Ø"/>
            </a:pPr>
            <a:r>
              <a:rPr lang="pt-PT" sz="1600" dirty="0">
                <a:latin typeface="DM Sans" pitchFamily="2" charset="0"/>
                <a:ea typeface="Calibri"/>
                <a:cs typeface="Calibri"/>
              </a:rPr>
              <a:t>Incentivar os motoristas na melhoria de qualidade de atendimento e serviço personalizado.</a:t>
            </a:r>
          </a:p>
          <a:p>
            <a:pPr marL="342900" indent="-342900" algn="just">
              <a:buFont typeface="Wingdings"/>
              <a:buChar char="Ø"/>
            </a:pPr>
            <a:endParaRPr lang="pt-PT" sz="1600" dirty="0">
              <a:latin typeface="DM Sans" pitchFamily="2" charset="0"/>
              <a:ea typeface="Calibri"/>
              <a:cs typeface="Calibri"/>
            </a:endParaRPr>
          </a:p>
          <a:p>
            <a:pPr marL="342900" indent="-342900" algn="just">
              <a:buFont typeface="Wingdings"/>
              <a:buChar char="Ø"/>
            </a:pPr>
            <a:r>
              <a:rPr lang="pt-PT" sz="1600" dirty="0">
                <a:latin typeface="DM Sans" pitchFamily="2" charset="0"/>
                <a:ea typeface="Calibri"/>
                <a:cs typeface="Calibri"/>
              </a:rPr>
              <a:t>Desinvestimento nas "carrinhas" e aposta nos veículos mais eficientes: médios e ligeiros.</a:t>
            </a:r>
            <a:endParaRPr lang="en-US" sz="1600" dirty="0">
              <a:latin typeface="DM Sans" pitchFamily="2" charset="0"/>
              <a:ea typeface="Calibri"/>
              <a:cs typeface="Calibri"/>
            </a:endParaRPr>
          </a:p>
          <a:p>
            <a:pPr marL="342900" indent="-342900" algn="just">
              <a:buFont typeface="Wingdings"/>
              <a:buChar char="Ø"/>
            </a:pPr>
            <a:endParaRPr lang="pt-PT" sz="1600" dirty="0">
              <a:latin typeface="DM Sans" pitchFamily="2" charset="0"/>
              <a:ea typeface="Calibri"/>
              <a:cs typeface="Calibri"/>
            </a:endParaRPr>
          </a:p>
          <a:p>
            <a:pPr marL="342900" indent="-342900" algn="just">
              <a:buFont typeface="Wingdings"/>
              <a:buChar char="Ø"/>
            </a:pPr>
            <a:r>
              <a:rPr lang="pt-PT" sz="1600" dirty="0">
                <a:latin typeface="DM Sans" pitchFamily="2" charset="0"/>
                <a:ea typeface="Calibri"/>
                <a:cs typeface="Calibri"/>
              </a:rPr>
              <a:t>Tentar encontrar oportunidades nas horas "mortas" do dia, nomeadamente à 13h da tarde, principalmente às segundas, sábados e quintas feiras.  </a:t>
            </a:r>
            <a:endParaRPr lang="en-US" sz="1600" dirty="0">
              <a:latin typeface="DM Sans" pitchFamily="2" charset="0"/>
              <a:ea typeface="Calibri"/>
              <a:cs typeface="Calibri"/>
            </a:endParaRPr>
          </a:p>
          <a:p>
            <a:pPr marL="342900" indent="-342900" algn="just">
              <a:buFont typeface="Wingdings"/>
              <a:buChar char="Ø"/>
            </a:pPr>
            <a:endParaRPr lang="pt-PT" dirty="0">
              <a:latin typeface="Calibri"/>
              <a:ea typeface="Calibri"/>
              <a:cs typeface="Calibri"/>
            </a:endParaRPr>
          </a:p>
          <a:p>
            <a:pPr algn="just">
              <a:lnSpc>
                <a:spcPct val="150000"/>
              </a:lnSpc>
            </a:pPr>
            <a:endParaRPr lang="pt-PT" sz="1600" dirty="0">
              <a:latin typeface="DM Sans"/>
              <a:ea typeface="Calibri"/>
              <a:cs typeface="Calibri"/>
            </a:endParaRPr>
          </a:p>
        </p:txBody>
      </p:sp>
    </p:spTree>
    <p:extLst>
      <p:ext uri="{BB962C8B-B14F-4D97-AF65-F5344CB8AC3E}">
        <p14:creationId xmlns:p14="http://schemas.microsoft.com/office/powerpoint/2010/main" val="1604400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3061-C5F2-B4BD-86D6-31CA6B97D4BD}"/>
            </a:ext>
          </a:extLst>
        </p:cNvPr>
        <p:cNvGrpSpPr/>
        <p:nvPr/>
      </p:nvGrpSpPr>
      <p:grpSpPr>
        <a:xfrm>
          <a:off x="0" y="0"/>
          <a:ext cx="0" cy="0"/>
          <a:chOff x="0" y="0"/>
          <a:chExt cx="0" cy="0"/>
        </a:xfrm>
      </p:grpSpPr>
      <p:sp>
        <p:nvSpPr>
          <p:cNvPr id="5" name="TextBox 14">
            <a:extLst>
              <a:ext uri="{FF2B5EF4-FFF2-40B4-BE49-F238E27FC236}">
                <a16:creationId xmlns:a16="http://schemas.microsoft.com/office/drawing/2014/main" id="{6F5A2207-315D-501A-812C-091A891EC723}"/>
              </a:ext>
            </a:extLst>
          </p:cNvPr>
          <p:cNvSpPr txBox="1"/>
          <p:nvPr/>
        </p:nvSpPr>
        <p:spPr>
          <a:xfrm>
            <a:off x="1402576" y="1691888"/>
            <a:ext cx="12676934" cy="338554"/>
          </a:xfrm>
          <a:prstGeom prst="rect">
            <a:avLst/>
          </a:prstGeom>
          <a:noFill/>
        </p:spPr>
        <p:txBody>
          <a:bodyPr wrap="square" lIns="91440" tIns="45720" rIns="91440" bIns="45720" rtlCol="0" anchor="t">
            <a:spAutoFit/>
          </a:bodyPr>
          <a:lstStyle/>
          <a:p>
            <a:r>
              <a:rPr lang="pt-PT" sz="1600">
                <a:latin typeface="DM Sans"/>
              </a:rPr>
              <a:t>6) </a:t>
            </a:r>
            <a:r>
              <a:rPr lang="pt-PT" sz="1600">
                <a:ea typeface="+mn-lt"/>
                <a:cs typeface="+mn-lt"/>
              </a:rPr>
              <a:t>Análise da gorjeta média por zona e por dia da semana </a:t>
            </a:r>
            <a:endParaRPr lang="pt-PT" sz="1600" i="1">
              <a:latin typeface="DM Sans"/>
              <a:ea typeface="+mn-lt"/>
              <a:cs typeface="+mn-lt"/>
            </a:endParaRPr>
          </a:p>
        </p:txBody>
      </p:sp>
      <p:sp>
        <p:nvSpPr>
          <p:cNvPr id="7" name="Título 3">
            <a:extLst>
              <a:ext uri="{FF2B5EF4-FFF2-40B4-BE49-F238E27FC236}">
                <a16:creationId xmlns:a16="http://schemas.microsoft.com/office/drawing/2014/main" id="{9F37910B-78F9-6082-75DE-15E49686B6CF}"/>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Taxistas</a:t>
            </a:r>
            <a:endParaRPr lang="pt-PT"/>
          </a:p>
        </p:txBody>
      </p:sp>
      <p:pic>
        <p:nvPicPr>
          <p:cNvPr id="6" name="Imagem 5" descr="Uma imagem com texto, captura de ecrã, Tipo de letra, Saturação de cores&#10;&#10;Os conteúdos gerados por IA poderão estar incorretos.">
            <a:extLst>
              <a:ext uri="{FF2B5EF4-FFF2-40B4-BE49-F238E27FC236}">
                <a16:creationId xmlns:a16="http://schemas.microsoft.com/office/drawing/2014/main" id="{FF4B72CD-38CB-EF6F-A4B7-7DDBCED12ECE}"/>
              </a:ext>
            </a:extLst>
          </p:cNvPr>
          <p:cNvPicPr>
            <a:picLocks noChangeAspect="1"/>
          </p:cNvPicPr>
          <p:nvPr/>
        </p:nvPicPr>
        <p:blipFill>
          <a:blip r:embed="rId3"/>
          <a:stretch>
            <a:fillRect/>
          </a:stretch>
        </p:blipFill>
        <p:spPr>
          <a:xfrm>
            <a:off x="9050350" y="2660978"/>
            <a:ext cx="5036727" cy="32678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Imagem 10" descr="Uma imagem com texto, captura de ecrã, file, Tipo de letra&#10;&#10;Os conteúdos gerados por IA poderão estar incorretos.">
            <a:extLst>
              <a:ext uri="{FF2B5EF4-FFF2-40B4-BE49-F238E27FC236}">
                <a16:creationId xmlns:a16="http://schemas.microsoft.com/office/drawing/2014/main" id="{BDB8031A-8B91-B1E4-8CFB-5109A6BA91DD}"/>
              </a:ext>
            </a:extLst>
          </p:cNvPr>
          <p:cNvPicPr>
            <a:picLocks noChangeAspect="1"/>
          </p:cNvPicPr>
          <p:nvPr/>
        </p:nvPicPr>
        <p:blipFill>
          <a:blip r:embed="rId4"/>
          <a:stretch>
            <a:fillRect/>
          </a:stretch>
        </p:blipFill>
        <p:spPr>
          <a:xfrm>
            <a:off x="1357214" y="2370488"/>
            <a:ext cx="7554402" cy="38613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36134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DFB6E-C241-6370-AE99-89136445F102}"/>
            </a:ext>
          </a:extLst>
        </p:cNvPr>
        <p:cNvGrpSpPr/>
        <p:nvPr/>
      </p:nvGrpSpPr>
      <p:grpSpPr>
        <a:xfrm>
          <a:off x="0" y="0"/>
          <a:ext cx="0" cy="0"/>
          <a:chOff x="0" y="0"/>
          <a:chExt cx="0" cy="0"/>
        </a:xfrm>
      </p:grpSpPr>
      <p:sp>
        <p:nvSpPr>
          <p:cNvPr id="3" name="CaixaDeTexto 13">
            <a:extLst>
              <a:ext uri="{FF2B5EF4-FFF2-40B4-BE49-F238E27FC236}">
                <a16:creationId xmlns:a16="http://schemas.microsoft.com/office/drawing/2014/main" id="{54283637-1A22-330E-5289-DC4B66FBE615}"/>
              </a:ext>
            </a:extLst>
          </p:cNvPr>
          <p:cNvSpPr txBox="1"/>
          <p:nvPr/>
        </p:nvSpPr>
        <p:spPr>
          <a:xfrm>
            <a:off x="1354720" y="2457525"/>
            <a:ext cx="6242570" cy="581402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a:ea typeface="Calibri"/>
                <a:cs typeface="Calibri"/>
              </a:rPr>
              <a:t>Análise:</a:t>
            </a:r>
          </a:p>
          <a:p>
            <a:pPr algn="just"/>
            <a:endParaRPr lang="pt-PT" sz="1600" dirty="0">
              <a:latin typeface="DM Sans"/>
              <a:ea typeface="Calibri"/>
              <a:cs typeface="Calibri"/>
            </a:endParaRPr>
          </a:p>
          <a:p>
            <a:pPr marL="285750" indent="-285750" algn="just">
              <a:buFont typeface="Wingdings"/>
              <a:buChar char="Ø"/>
            </a:pPr>
            <a:r>
              <a:rPr lang="pt-PT" sz="1600" dirty="0">
                <a:latin typeface="DM Sans" pitchFamily="2" charset="0"/>
                <a:ea typeface="+mn-lt"/>
                <a:cs typeface="+mn-lt"/>
              </a:rPr>
              <a:t>Manhattan é a zona que regista maior volume de gorjetas;</a:t>
            </a:r>
          </a:p>
          <a:p>
            <a:pPr marL="285750" indent="-285750" algn="just">
              <a:buFont typeface="Wingdings"/>
              <a:buChar char="Ø"/>
            </a:pPr>
            <a:endParaRPr lang="pt-PT" sz="1600" dirty="0">
              <a:latin typeface="DM Sans" pitchFamily="2" charset="0"/>
              <a:ea typeface="+mn-lt"/>
              <a:cs typeface="+mn-lt"/>
            </a:endParaRPr>
          </a:p>
          <a:p>
            <a:pPr marL="285750" indent="-285750" algn="just">
              <a:buFont typeface="Wingdings"/>
              <a:buChar char="Ø"/>
            </a:pPr>
            <a:r>
              <a:rPr lang="pt-PT" sz="1600" dirty="0">
                <a:latin typeface="DM Sans" pitchFamily="2" charset="0"/>
                <a:ea typeface="+mn-lt"/>
                <a:cs typeface="+mn-lt"/>
              </a:rPr>
              <a:t>Contudo, a EWR (Newark </a:t>
            </a:r>
            <a:r>
              <a:rPr lang="pt-PT" sz="1600" dirty="0" err="1">
                <a:latin typeface="DM Sans" pitchFamily="2" charset="0"/>
                <a:ea typeface="+mn-lt"/>
                <a:cs typeface="+mn-lt"/>
              </a:rPr>
              <a:t>Liberty</a:t>
            </a:r>
            <a:r>
              <a:rPr lang="pt-PT" sz="1600" dirty="0">
                <a:latin typeface="DM Sans" pitchFamily="2" charset="0"/>
                <a:ea typeface="+mn-lt"/>
                <a:cs typeface="+mn-lt"/>
              </a:rPr>
              <a:t> </a:t>
            </a:r>
            <a:r>
              <a:rPr lang="pt-PT" sz="1600" dirty="0" err="1">
                <a:latin typeface="DM Sans" pitchFamily="2" charset="0"/>
                <a:ea typeface="+mn-lt"/>
                <a:cs typeface="+mn-lt"/>
              </a:rPr>
              <a:t>Airport</a:t>
            </a:r>
            <a:r>
              <a:rPr lang="pt-PT" sz="1600" dirty="0">
                <a:latin typeface="DM Sans" pitchFamily="2" charset="0"/>
                <a:ea typeface="+mn-lt"/>
                <a:cs typeface="+mn-lt"/>
              </a:rPr>
              <a:t>) é a zona mais eficiente com o valor médio de gorjeta mais elevado, explicado pelo volume alto de gorjetas, apesar do nº reduzido de viagens, decorrente da proximidade do aeroporto onde pontualmente há Clientes que pagam "boas" gorjetas.</a:t>
            </a:r>
            <a:endParaRPr lang="en-US" sz="1600" dirty="0">
              <a:latin typeface="DM Sans" pitchFamily="2" charset="0"/>
              <a:ea typeface="+mn-lt"/>
              <a:cs typeface="+mn-lt"/>
            </a:endParaRPr>
          </a:p>
          <a:p>
            <a:pPr marL="285750" indent="-285750" algn="just">
              <a:buFont typeface="Wingdings"/>
              <a:buChar char="Ø"/>
            </a:pPr>
            <a:endParaRPr lang="pt-PT" sz="1600" dirty="0">
              <a:latin typeface="DM Sans" pitchFamily="2" charset="0"/>
              <a:ea typeface="+mn-lt"/>
              <a:cs typeface="+mn-lt"/>
            </a:endParaRPr>
          </a:p>
          <a:p>
            <a:pPr marL="285750" indent="-285750" algn="just">
              <a:buFont typeface="Wingdings"/>
              <a:buChar char="Ø"/>
            </a:pPr>
            <a:r>
              <a:rPr lang="pt" sz="1600" dirty="0">
                <a:latin typeface="DM Sans" pitchFamily="2" charset="0"/>
                <a:ea typeface="+mn-lt"/>
                <a:cs typeface="+mn-lt"/>
              </a:rPr>
              <a:t>Observa-se nas sextas feiras e fins-de semana nível mais </a:t>
            </a:r>
            <a:r>
              <a:rPr lang="pt-PT" sz="1600" dirty="0">
                <a:latin typeface="DM Sans" pitchFamily="2" charset="0"/>
                <a:ea typeface="+mn-lt"/>
                <a:cs typeface="+mn-lt"/>
              </a:rPr>
              <a:t>elevado de gorjeta média por viagem, apesar de serem dias com menor fluxo de viagens, o retorno em termos de gorjetas é maior.</a:t>
            </a:r>
            <a:endParaRPr lang="pt-PT" sz="1600" dirty="0">
              <a:latin typeface="DM Sans" pitchFamily="2" charset="0"/>
              <a:ea typeface="Calibri"/>
              <a:cs typeface="Calibri"/>
            </a:endParaRPr>
          </a:p>
          <a:p>
            <a:pPr marL="285750" indent="-285750" algn="just">
              <a:buFont typeface="Wingdings"/>
              <a:buChar char="Ø"/>
            </a:pPr>
            <a:endParaRPr lang="pt-PT" dirty="0">
              <a:latin typeface="Calibri"/>
              <a:ea typeface="Calibri"/>
              <a:cs typeface="Calibri"/>
            </a:endParaRPr>
          </a:p>
          <a:p>
            <a:pPr marL="285750" indent="-285750" algn="just">
              <a:buFont typeface="Wingdings"/>
              <a:buChar char="Ø"/>
            </a:pPr>
            <a:endParaRPr lang="pt-PT" dirty="0">
              <a:latin typeface="Calibri"/>
              <a:ea typeface="+mn-lt"/>
              <a:cs typeface="+mn-lt"/>
            </a:endParaRPr>
          </a:p>
          <a:p>
            <a:pPr marL="285750" indent="-285750" algn="just">
              <a:buFont typeface="Wingdings"/>
              <a:buChar char="Ø"/>
            </a:pPr>
            <a:endParaRPr lang="pt-PT" dirty="0">
              <a:latin typeface="Calibri"/>
              <a:ea typeface="+mn-lt"/>
              <a:cs typeface="+mn-lt"/>
            </a:endParaRPr>
          </a:p>
          <a:p>
            <a:pPr marL="285750" indent="-285750" algn="just">
              <a:lnSpc>
                <a:spcPct val="150000"/>
              </a:lnSpc>
              <a:buFont typeface="Wingdings"/>
              <a:buChar char="Ø"/>
            </a:pPr>
            <a:endParaRPr lang="pt-PT" sz="1600" b="1" dirty="0">
              <a:latin typeface="DM Sans"/>
              <a:ea typeface="+mn-lt"/>
              <a:cs typeface="+mn-lt"/>
            </a:endParaRPr>
          </a:p>
          <a:p>
            <a:pPr algn="just">
              <a:lnSpc>
                <a:spcPct val="150000"/>
              </a:lnSpc>
            </a:pPr>
            <a:endParaRPr lang="pt-PT" sz="1600" dirty="0">
              <a:latin typeface="DM Sans"/>
              <a:ea typeface="+mn-lt"/>
              <a:cs typeface="+mn-lt"/>
            </a:endParaRPr>
          </a:p>
          <a:p>
            <a:pPr algn="just">
              <a:lnSpc>
                <a:spcPct val="150000"/>
              </a:lnSpc>
            </a:pPr>
            <a:endParaRPr lang="pt-PT" sz="1600" dirty="0">
              <a:highlight>
                <a:srgbClr val="FFFF00"/>
              </a:highlight>
              <a:latin typeface="DM Sans"/>
              <a:ea typeface="+mn-lt"/>
              <a:cs typeface="+mn-lt"/>
            </a:endParaRPr>
          </a:p>
        </p:txBody>
      </p:sp>
      <p:sp>
        <p:nvSpPr>
          <p:cNvPr id="5" name="TextBox 14">
            <a:extLst>
              <a:ext uri="{FF2B5EF4-FFF2-40B4-BE49-F238E27FC236}">
                <a16:creationId xmlns:a16="http://schemas.microsoft.com/office/drawing/2014/main" id="{A13AA7A7-925F-E07B-045B-EDF54CBFA534}"/>
              </a:ext>
            </a:extLst>
          </p:cNvPr>
          <p:cNvSpPr txBox="1"/>
          <p:nvPr/>
        </p:nvSpPr>
        <p:spPr>
          <a:xfrm>
            <a:off x="1402576" y="1691888"/>
            <a:ext cx="12676934" cy="584775"/>
          </a:xfrm>
          <a:prstGeom prst="rect">
            <a:avLst/>
          </a:prstGeom>
          <a:noFill/>
        </p:spPr>
        <p:txBody>
          <a:bodyPr wrap="square" lIns="91440" tIns="45720" rIns="91440" bIns="45720" rtlCol="0" anchor="t">
            <a:spAutoFit/>
          </a:bodyPr>
          <a:lstStyle/>
          <a:p>
            <a:r>
              <a:rPr lang="pt-PT" sz="1600" dirty="0">
                <a:latin typeface="DM Sans"/>
              </a:rPr>
              <a:t>6) </a:t>
            </a:r>
            <a:r>
              <a:rPr lang="pt-PT" sz="1600" dirty="0">
                <a:ea typeface="+mn-lt"/>
                <a:cs typeface="+mn-lt"/>
              </a:rPr>
              <a:t>Análise da gorjeta média por zona e por dia da semana </a:t>
            </a:r>
            <a:endParaRPr lang="pt-PT" dirty="0"/>
          </a:p>
          <a:p>
            <a:endParaRPr lang="pt-PT" sz="1600" dirty="0">
              <a:latin typeface="Calibri"/>
              <a:ea typeface="+mn-lt"/>
              <a:cs typeface="+mn-lt"/>
            </a:endParaRPr>
          </a:p>
        </p:txBody>
      </p:sp>
      <p:sp>
        <p:nvSpPr>
          <p:cNvPr id="7" name="Título 3">
            <a:extLst>
              <a:ext uri="{FF2B5EF4-FFF2-40B4-BE49-F238E27FC236}">
                <a16:creationId xmlns:a16="http://schemas.microsoft.com/office/drawing/2014/main" id="{BD7AD9FE-D671-4627-0B53-C1017AC1210E}"/>
              </a:ext>
            </a:extLst>
          </p:cNvPr>
          <p:cNvSpPr txBox="1">
            <a:spLocks/>
          </p:cNvSpPr>
          <p:nvPr/>
        </p:nvSpPr>
        <p:spPr>
          <a:xfrm>
            <a:off x="1354836" y="547124"/>
            <a:ext cx="11917680" cy="915408"/>
          </a:xfrm>
          <a:prstGeom prst="rect">
            <a:avLst/>
          </a:prstGeom>
        </p:spPr>
        <p:txBody>
          <a:bodyPr lIns="91440" tIns="45720" rIns="91440" bIns="45720" anchor="t">
            <a:normAutofit/>
          </a:bodyPr>
          <a:lst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a:lstStyle>
          <a:p>
            <a:r>
              <a:rPr lang="pt-PT" sz="4800">
                <a:latin typeface="DM Sans Semi Bold"/>
                <a:ea typeface="Calibri Light"/>
                <a:cs typeface="Calibri Light"/>
              </a:rPr>
              <a:t>Taxistas</a:t>
            </a:r>
            <a:endParaRPr lang="pt-PT"/>
          </a:p>
        </p:txBody>
      </p:sp>
      <p:sp>
        <p:nvSpPr>
          <p:cNvPr id="8" name="CaixaDeTexto 13">
            <a:extLst>
              <a:ext uri="{FF2B5EF4-FFF2-40B4-BE49-F238E27FC236}">
                <a16:creationId xmlns:a16="http://schemas.microsoft.com/office/drawing/2014/main" id="{11767E90-9BA0-2E27-3F1C-A7A597682BD8}"/>
              </a:ext>
            </a:extLst>
          </p:cNvPr>
          <p:cNvSpPr txBox="1"/>
          <p:nvPr/>
        </p:nvSpPr>
        <p:spPr>
          <a:xfrm>
            <a:off x="7744161" y="2457524"/>
            <a:ext cx="6195358" cy="316714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PT" sz="1600" b="1" dirty="0">
                <a:latin typeface="DM Sans"/>
                <a:ea typeface="Calibri"/>
                <a:cs typeface="Calibri"/>
              </a:rPr>
              <a:t>Recomendações:</a:t>
            </a:r>
          </a:p>
          <a:p>
            <a:pPr algn="just"/>
            <a:endParaRPr lang="pt-PT" sz="1600" dirty="0">
              <a:latin typeface="DM Sans" pitchFamily="2" charset="0"/>
              <a:ea typeface="Calibri"/>
              <a:cs typeface="Calibri"/>
            </a:endParaRPr>
          </a:p>
          <a:p>
            <a:pPr marL="285750" indent="-285750" algn="just">
              <a:buFont typeface="Wingdings"/>
              <a:buChar char="Ø"/>
            </a:pPr>
            <a:r>
              <a:rPr lang="pt-PT" sz="1600" dirty="0">
                <a:latin typeface="DM Sans" pitchFamily="2" charset="0"/>
                <a:ea typeface="+mn-lt"/>
                <a:cs typeface="+mn-lt"/>
              </a:rPr>
              <a:t>Reforçar operações em zonas de alta eficiência como a </a:t>
            </a:r>
            <a:r>
              <a:rPr lang="pt-PT" sz="1600" dirty="0" err="1">
                <a:latin typeface="DM Sans" pitchFamily="2" charset="0"/>
                <a:ea typeface="+mn-lt"/>
                <a:cs typeface="+mn-lt"/>
              </a:rPr>
              <a:t>a</a:t>
            </a:r>
            <a:r>
              <a:rPr lang="pt-PT" sz="1600" dirty="0">
                <a:latin typeface="DM Sans" pitchFamily="2" charset="0"/>
                <a:ea typeface="+mn-lt"/>
                <a:cs typeface="+mn-lt"/>
              </a:rPr>
              <a:t> zona de aeroporto EWR principalmente às quartas, quintas e sextas; </a:t>
            </a:r>
            <a:endParaRPr lang="en-US" sz="1600" dirty="0">
              <a:latin typeface="DM Sans" pitchFamily="2" charset="0"/>
              <a:ea typeface="Calibri"/>
              <a:cs typeface="Calibri"/>
            </a:endParaRPr>
          </a:p>
          <a:p>
            <a:pPr marL="285750" indent="-285750" algn="just">
              <a:buFont typeface="Wingdings"/>
              <a:buChar char="Ø"/>
            </a:pPr>
            <a:endParaRPr lang="pt-PT" sz="1600" dirty="0">
              <a:latin typeface="DM Sans" pitchFamily="2" charset="0"/>
              <a:ea typeface="Calibri" panose="020F0502020204030204"/>
              <a:cs typeface="Calibri" panose="020F0502020204030204"/>
            </a:endParaRPr>
          </a:p>
          <a:p>
            <a:pPr marL="285750" indent="-285750" algn="just">
              <a:buFont typeface="Wingdings"/>
              <a:buChar char="Ø"/>
            </a:pPr>
            <a:endParaRPr lang="en-US" sz="1600" dirty="0">
              <a:latin typeface="DM Sans" pitchFamily="2" charset="0"/>
              <a:ea typeface="Calibri" panose="020F0502020204030204"/>
              <a:cs typeface="Calibri" panose="020F0502020204030204"/>
            </a:endParaRPr>
          </a:p>
          <a:p>
            <a:pPr marL="285750" indent="-285750" algn="just">
              <a:buFont typeface="Wingdings"/>
              <a:buChar char="Ø"/>
            </a:pPr>
            <a:endParaRPr lang="pt-PT" sz="1600" dirty="0">
              <a:latin typeface="DM Sans" pitchFamily="2" charset="0"/>
              <a:ea typeface="Calibri" panose="020F0502020204030204"/>
              <a:cs typeface="Calibri" panose="020F0502020204030204"/>
            </a:endParaRPr>
          </a:p>
          <a:p>
            <a:pPr marL="342900" indent="-342900" algn="just">
              <a:buFont typeface="Wingdings"/>
              <a:buChar char="Ø"/>
            </a:pPr>
            <a:r>
              <a:rPr lang="pt-PT" sz="1600" dirty="0">
                <a:latin typeface="DM Sans" pitchFamily="2" charset="0"/>
                <a:ea typeface="+mn-lt"/>
                <a:cs typeface="+mn-lt"/>
              </a:rPr>
              <a:t>Manter cobertura na zona de Manhattan que contribui com maior fluxo de passageiros.</a:t>
            </a:r>
            <a:endParaRPr lang="en-US" sz="1600" dirty="0">
              <a:latin typeface="DM Sans" pitchFamily="2" charset="0"/>
              <a:ea typeface="+mn-lt"/>
              <a:cs typeface="+mn-lt"/>
            </a:endParaRPr>
          </a:p>
          <a:p>
            <a:pPr marL="342900" indent="-342900" algn="just">
              <a:buFont typeface="Wingdings"/>
              <a:buChar char="Ø"/>
            </a:pPr>
            <a:endParaRPr lang="pt-PT" dirty="0">
              <a:latin typeface="Calibri"/>
              <a:ea typeface="Calibri"/>
              <a:cs typeface="Calibri"/>
            </a:endParaRPr>
          </a:p>
          <a:p>
            <a:pPr algn="just">
              <a:lnSpc>
                <a:spcPct val="150000"/>
              </a:lnSpc>
            </a:pPr>
            <a:endParaRPr lang="pt-PT" sz="1600" dirty="0">
              <a:latin typeface="DM Sans"/>
              <a:ea typeface="Calibri"/>
              <a:cs typeface="Calibri"/>
            </a:endParaRPr>
          </a:p>
        </p:txBody>
      </p:sp>
    </p:spTree>
    <p:extLst>
      <p:ext uri="{BB962C8B-B14F-4D97-AF65-F5344CB8AC3E}">
        <p14:creationId xmlns:p14="http://schemas.microsoft.com/office/powerpoint/2010/main" val="57705370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64</TotalTime>
  <Words>1443</Words>
  <Application>Microsoft Office PowerPoint</Application>
  <PresentationFormat>Personalizados</PresentationFormat>
  <Paragraphs>166</Paragraphs>
  <Slides>14</Slides>
  <Notes>9</Notes>
  <HiddenSlides>0</HiddenSlides>
  <MMClips>0</MMClips>
  <ScaleCrop>false</ScaleCrop>
  <HeadingPairs>
    <vt:vector size="6" baseType="variant">
      <vt:variant>
        <vt:lpstr>Tipos de letra usados</vt:lpstr>
      </vt:variant>
      <vt:variant>
        <vt:i4>7</vt:i4>
      </vt:variant>
      <vt:variant>
        <vt:lpstr>Tema</vt:lpstr>
      </vt:variant>
      <vt:variant>
        <vt:i4>1</vt:i4>
      </vt:variant>
      <vt:variant>
        <vt:lpstr>Títulos dos diapositivos</vt:lpstr>
      </vt:variant>
      <vt:variant>
        <vt:i4>14</vt:i4>
      </vt:variant>
    </vt:vector>
  </HeadingPairs>
  <TitlesOfParts>
    <vt:vector size="22" baseType="lpstr">
      <vt:lpstr>Wingdings</vt:lpstr>
      <vt:lpstr>Calibri Light</vt:lpstr>
      <vt:lpstr>Arial</vt:lpstr>
      <vt:lpstr>Wingdings,Sans-Serif</vt:lpstr>
      <vt:lpstr>Calibri</vt:lpstr>
      <vt:lpstr>DM Sans Semi Bold</vt:lpstr>
      <vt:lpstr>DM Sans</vt:lpstr>
      <vt:lpstr>Retrospect</vt:lpstr>
      <vt:lpstr>Apresentação do PowerPoint</vt:lpstr>
      <vt:lpstr>Introdução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Filipa Vilas Boas</dc:creator>
  <cp:lastModifiedBy>Carolina Ornelas</cp:lastModifiedBy>
  <cp:revision>460</cp:revision>
  <dcterms:created xsi:type="dcterms:W3CDTF">2025-10-14T07:04:05Z</dcterms:created>
  <dcterms:modified xsi:type="dcterms:W3CDTF">2025-10-25T15:42:40Z</dcterms:modified>
</cp:coreProperties>
</file>